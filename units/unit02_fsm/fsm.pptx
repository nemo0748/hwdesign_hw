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8" r:id="rId2"/>
    <p:sldId id="271" r:id="rId3"/>
    <p:sldId id="336" r:id="rId4"/>
    <p:sldId id="300" r:id="rId5"/>
    <p:sldId id="301" r:id="rId6"/>
    <p:sldId id="302" r:id="rId7"/>
    <p:sldId id="359" r:id="rId8"/>
    <p:sldId id="360" r:id="rId9"/>
    <p:sldId id="362" r:id="rId10"/>
    <p:sldId id="361" r:id="rId11"/>
    <p:sldId id="364" r:id="rId12"/>
    <p:sldId id="306" r:id="rId13"/>
    <p:sldId id="355" r:id="rId14"/>
    <p:sldId id="363" r:id="rId15"/>
    <p:sldId id="356" r:id="rId16"/>
    <p:sldId id="366" r:id="rId17"/>
    <p:sldId id="365" r:id="rId18"/>
    <p:sldId id="352" r:id="rId19"/>
    <p:sldId id="354" r:id="rId20"/>
    <p:sldId id="353" r:id="rId21"/>
    <p:sldId id="358" r:id="rId22"/>
    <p:sldId id="382" r:id="rId23"/>
    <p:sldId id="368" r:id="rId24"/>
    <p:sldId id="303" r:id="rId25"/>
    <p:sldId id="308" r:id="rId26"/>
    <p:sldId id="309" r:id="rId27"/>
    <p:sldId id="346" r:id="rId28"/>
    <p:sldId id="312" r:id="rId29"/>
    <p:sldId id="348" r:id="rId30"/>
    <p:sldId id="320" r:id="rId31"/>
    <p:sldId id="349" r:id="rId32"/>
    <p:sldId id="351" r:id="rId33"/>
    <p:sldId id="383" r:id="rId34"/>
    <p:sldId id="341" r:id="rId35"/>
    <p:sldId id="377" r:id="rId36"/>
    <p:sldId id="370" r:id="rId37"/>
    <p:sldId id="371" r:id="rId38"/>
    <p:sldId id="330" r:id="rId39"/>
    <p:sldId id="329" r:id="rId40"/>
    <p:sldId id="381" r:id="rId41"/>
    <p:sldId id="331" r:id="rId4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D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2 </a:t>
            </a:r>
            <a:br>
              <a:rPr lang="en-US" sz="6600" dirty="0"/>
            </a:br>
            <a:r>
              <a:rPr lang="en-US" sz="6600" dirty="0"/>
              <a:t>Sequential Logic and FSMs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state machines </a:t>
            </a:r>
            <a:r>
              <a:rPr lang="en-US" dirty="0">
                <a:solidFill>
                  <a:schemeClr val="tx1"/>
                </a:solidFill>
              </a:rPr>
              <a:t>and identify inputs, outputs, and states </a:t>
            </a:r>
          </a:p>
          <a:p>
            <a:r>
              <a:rPr lang="en-US" dirty="0">
                <a:solidFill>
                  <a:schemeClr val="tx1"/>
                </a:solidFill>
              </a:rPr>
              <a:t>Implement FSMs with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Break and implement functions over multiple clock cycles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2F31-3203-5115-2596-EBC50D1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E12-525A-63AB-0A6F-6D430073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9F26-0689-9C02-1517-96591E92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2D8-678A-1358-2D01-61E3D62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4DF5AC-F564-EFD6-6310-8AE29B223504}"/>
              </a:ext>
            </a:extLst>
          </p:cNvPr>
          <p:cNvSpPr/>
          <p:nvPr/>
        </p:nvSpPr>
        <p:spPr>
          <a:xfrm>
            <a:off x="481901" y="144132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Clock</a:t>
                </a:r>
                <a:r>
                  <a:rPr lang="en-US" sz="2400" dirty="0"/>
                  <a:t>:  An alternating binary signal</a:t>
                </a:r>
              </a:p>
              <a:p>
                <a:pPr lvl="1"/>
                <a:r>
                  <a:rPr lang="en-US" sz="2000" dirty="0"/>
                  <a:t>Visualized as a square wave</a:t>
                </a:r>
              </a:p>
              <a:p>
                <a:r>
                  <a:rPr lang="en-US" sz="2400" dirty="0"/>
                  <a:t>Each period is called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sz="2400" dirty="0"/>
                  <a:t>Parameters:</a:t>
                </a:r>
              </a:p>
              <a:p>
                <a:pPr lvl="1"/>
                <a:r>
                  <a:rPr lang="en-US" sz="2000" dirty="0"/>
                  <a:t>Clock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period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Typical parameters:</a:t>
                </a:r>
              </a:p>
              <a:p>
                <a:pPr lvl="1"/>
                <a:r>
                  <a:rPr lang="en-US" sz="2000" dirty="0"/>
                  <a:t>FPGA logic: 100 to 500 MHz</a:t>
                </a:r>
              </a:p>
              <a:p>
                <a:pPr lvl="1"/>
                <a:r>
                  <a:rPr lang="en-US" sz="2000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01B-5CDD-0C08-9994-603839E9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4C8E-D7AE-847E-B2BC-5DECC8A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Logic Example: 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Synchronous logic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Updates occur on each clock cycle</a:t>
                </a:r>
              </a:p>
              <a:p>
                <a:r>
                  <a:rPr lang="en-US" sz="2400" dirty="0"/>
                  <a:t>Simple example:  A down-counter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Potential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specification</a:t>
                </a:r>
                <a:r>
                  <a:rPr lang="en-US" sz="2400" dirty="0"/>
                  <a:t>:   On clock cycle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  <a:blipFill>
                <a:blip r:embed="rId2"/>
                <a:stretch>
                  <a:fillRect l="-193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79C-2C51-396A-7C04-105794C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𝑡𝑎𝑟𝑡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𝑖𝑛𝑖𝑡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1" t="-8197" r="-3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41" t="-8197" r="-2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35" t="-8197" r="-103226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564" b="-10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88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69F-E960-7EBF-9A7A-E20B8D7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Module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Counter example from previous slide: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Inputs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𝑖𝑛𝑖𝑡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the module takes as input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Output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What the module produces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needs to be stored to compute the subsequent outputs given the inputs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8DB8-E5A5-401D-44BF-0EDD9DE8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6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19E3-E031-B332-BA09-D380FA32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Definition</a:t>
                </a:r>
                <a:r>
                  <a:rPr lang="en-US" sz="2400" dirty="0"/>
                  <a:t>:  A state is a set of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Outputs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/>
                  <a:t>  are fully determined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our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is the state 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future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We can fully determine future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cnt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B395-3606-E2C9-AF37-B6D57983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6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6C9C-86E3-6FD7-24AC-0620FF1A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as an FSM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finite state machine</a:t>
                </a:r>
              </a:p>
              <a:p>
                <a:r>
                  <a:rPr lang="en-US" dirty="0"/>
                  <a:t>Update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Describes how the state evolves</a:t>
                </a:r>
              </a:p>
              <a:p>
                <a:r>
                  <a:rPr lang="en-US" dirty="0"/>
                  <a:t>Output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5E66-F2F1-5EBE-2CB5-F1B29CB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E1A8E-BF4A-1FF6-B1B6-00E4E151FB09}"/>
              </a:ext>
            </a:extLst>
          </p:cNvPr>
          <p:cNvSpPr/>
          <p:nvPr/>
        </p:nvSpPr>
        <p:spPr>
          <a:xfrm>
            <a:off x="6174180" y="27428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/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blipFill>
                <a:blip r:embed="rId3"/>
                <a:stretch>
                  <a:fillRect l="-5732" t="-10000" r="-19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7B0294-A559-F542-4D70-4DD3E8EE4C43}"/>
              </a:ext>
            </a:extLst>
          </p:cNvPr>
          <p:cNvSpPr/>
          <p:nvPr/>
        </p:nvSpPr>
        <p:spPr>
          <a:xfrm>
            <a:off x="7844706" y="2742863"/>
            <a:ext cx="2537733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4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/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blipFill>
                <a:blip r:embed="rId5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2A7DC9-2474-4F2B-B5F6-770D457BF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113573" y="2067699"/>
            <a:ext cx="0" cy="67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8343B-40F7-6868-0386-5943221E2280}"/>
              </a:ext>
            </a:extLst>
          </p:cNvPr>
          <p:cNvCxnSpPr>
            <a:cxnSpLocks/>
          </p:cNvCxnSpPr>
          <p:nvPr/>
        </p:nvCxnSpPr>
        <p:spPr>
          <a:xfrm>
            <a:off x="10370776" y="30866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249E9-9475-CCCD-A268-C49461BE456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87438" y="33088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92ECBB-3CBD-7825-5995-801A2D94AB08}"/>
              </a:ext>
            </a:extLst>
          </p:cNvPr>
          <p:cNvCxnSpPr>
            <a:cxnSpLocks/>
          </p:cNvCxnSpPr>
          <p:nvPr/>
        </p:nvCxnSpPr>
        <p:spPr>
          <a:xfrm>
            <a:off x="10382439" y="357623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A7E88D-4E73-876A-B140-896DFBC4F9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880734" y="33088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EC02BB-F66D-2284-9CC1-D87B7E2F16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87438" y="3571585"/>
            <a:ext cx="5643010" cy="1419135"/>
          </a:xfrm>
          <a:prstGeom prst="bentConnector3">
            <a:avLst>
              <a:gd name="adj1" fmla="val -8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714D26-FE03-048C-8AC3-BE39C25D425B}"/>
              </a:ext>
            </a:extLst>
          </p:cNvPr>
          <p:cNvCxnSpPr>
            <a:cxnSpLocks/>
          </p:cNvCxnSpPr>
          <p:nvPr/>
        </p:nvCxnSpPr>
        <p:spPr>
          <a:xfrm>
            <a:off x="5587438" y="33088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/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blipFill>
                <a:blip r:embed="rId6"/>
                <a:stretch>
                  <a:fillRect l="-1907" t="-10000" r="-1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1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F958-EB51-6387-6352-61344458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7E65-2EBB-8213-F62E-2B6184D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FSM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3B9F-BA9F-F3E8-A046-488A7965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States are stored in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Basic storage element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Update and output functions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Implemented in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 storage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Takes input and current state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Produces next state and output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Must finish within one clock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3B231-2DED-E621-2032-D6A2B56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DF525-8E98-6468-ADEE-FC1E3636476E}"/>
              </a:ext>
            </a:extLst>
          </p:cNvPr>
          <p:cNvSpPr/>
          <p:nvPr/>
        </p:nvSpPr>
        <p:spPr>
          <a:xfrm>
            <a:off x="6682742" y="27453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/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blipFill>
                <a:blip r:embed="rId2"/>
                <a:stretch>
                  <a:fillRect l="-5096" t="-8197" r="-2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3BBDE-73B8-4913-9D39-504A90AD2B19}"/>
              </a:ext>
            </a:extLst>
          </p:cNvPr>
          <p:cNvSpPr/>
          <p:nvPr/>
        </p:nvSpPr>
        <p:spPr>
          <a:xfrm>
            <a:off x="8353268" y="2745363"/>
            <a:ext cx="1711971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3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/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blipFill>
                <a:blip r:embed="rId4"/>
                <a:stretch>
                  <a:fillRect l="-4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02F48-3533-719E-AB49-5D4C23E5C94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209254" y="1994357"/>
            <a:ext cx="0" cy="7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D4EE-7883-BF7D-1C02-676E365BDE58}"/>
              </a:ext>
            </a:extLst>
          </p:cNvPr>
          <p:cNvCxnSpPr>
            <a:cxnSpLocks/>
          </p:cNvCxnSpPr>
          <p:nvPr/>
        </p:nvCxnSpPr>
        <p:spPr>
          <a:xfrm>
            <a:off x="10053576" y="310159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57B1AE-14E6-9A6D-F9FA-45E1FA3C6F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33113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5727C-E1CD-597D-3F2B-0FA56174B2B1}"/>
              </a:ext>
            </a:extLst>
          </p:cNvPr>
          <p:cNvCxnSpPr>
            <a:cxnSpLocks/>
          </p:cNvCxnSpPr>
          <p:nvPr/>
        </p:nvCxnSpPr>
        <p:spPr>
          <a:xfrm>
            <a:off x="10065239" y="35912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6C49C-4364-0C38-8FE9-2E59BE0A4B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389296" y="33113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10BC2BA-8621-24C2-9F74-5A3C00C7DC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1" y="3583484"/>
            <a:ext cx="4809441" cy="1380587"/>
          </a:xfrm>
          <a:prstGeom prst="bentConnector3">
            <a:avLst>
              <a:gd name="adj1" fmla="val -14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BEDC9-6729-1E88-9BDA-185ED277EF82}"/>
              </a:ext>
            </a:extLst>
          </p:cNvPr>
          <p:cNvCxnSpPr>
            <a:cxnSpLocks/>
          </p:cNvCxnSpPr>
          <p:nvPr/>
        </p:nvCxnSpPr>
        <p:spPr>
          <a:xfrm>
            <a:off x="6096000" y="33113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/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blipFill>
                <a:blip r:embed="rId5"/>
                <a:stretch>
                  <a:fillRect l="-1691" t="-8197" r="-14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B300C7-0ACC-6063-FB81-756CBB36502C}"/>
              </a:ext>
            </a:extLst>
          </p:cNvPr>
          <p:cNvSpPr txBox="1"/>
          <p:nvPr/>
        </p:nvSpPr>
        <p:spPr>
          <a:xfrm>
            <a:off x="6381679" y="1785862"/>
            <a:ext cx="1123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  <a:br>
              <a:rPr lang="en-US" sz="2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(clocked)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B4E46-C04D-56BB-A43B-3657D6625A4E}"/>
              </a:ext>
            </a:extLst>
          </p:cNvPr>
          <p:cNvSpPr txBox="1"/>
          <p:nvPr/>
        </p:nvSpPr>
        <p:spPr>
          <a:xfrm>
            <a:off x="7884075" y="3949681"/>
            <a:ext cx="22485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(no clock)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84174A-DAD1-C6E4-5372-422431598D46}"/>
              </a:ext>
            </a:extLst>
          </p:cNvPr>
          <p:cNvCxnSpPr/>
          <p:nvPr/>
        </p:nvCxnSpPr>
        <p:spPr>
          <a:xfrm>
            <a:off x="6088308" y="2936154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2F3A1B-4EF8-AA8E-A419-FE3D5C19E855}"/>
              </a:ext>
            </a:extLst>
          </p:cNvPr>
          <p:cNvSpPr txBox="1"/>
          <p:nvPr/>
        </p:nvSpPr>
        <p:spPr>
          <a:xfrm>
            <a:off x="5899264" y="253512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51614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05" y="3877481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7E-2ABF-333B-C61D-DF6E65F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FD28-FCFC-8373-7823-1ECDFD37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Register:  Discrete-Time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</p:spPr>
            <p:txBody>
              <a:bodyPr/>
              <a:lstStyle/>
              <a:p>
                <a:r>
                  <a:rPr lang="en-US" dirty="0"/>
                  <a:t>Suppose input has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clock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register output is: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simple delay element</a:t>
                </a:r>
              </a:p>
              <a:p>
                <a:r>
                  <a:rPr lang="en-US" dirty="0"/>
                  <a:t>Example: 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8, 9, 1, 2 </m:t>
                    </m:r>
                  </m:oMath>
                </a14:m>
                <a:r>
                  <a:rPr lang="en-US" dirty="0"/>
                  <a:t> in clock cycles 0 to 4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r>
                  <a:rPr lang="en-US" dirty="0"/>
                  <a:t> is initialized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clock cycle 0</a:t>
                </a:r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4, 8, 9, 1, 2 in clock cycles 0 to 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  <a:blipFill>
                <a:blip r:embed="rId2"/>
                <a:stretch>
                  <a:fillRect l="-213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1275-5AA5-4FC6-A8FD-0AC211A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046B2-46A3-9167-A62F-0B082A3A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73" y="2175821"/>
            <a:ext cx="3987450" cy="2590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/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𝑥𝑟𝑒𝑔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14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B89-A888-5968-C42D-1067C32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Counter in System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577-B34E-B2EC-33DC-416FDCA1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counter is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module definition describes: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Inputs and outputs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Must have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</a:t>
            </a:r>
            <a:r>
              <a:rPr lang="en-US" sz="2000" dirty="0">
                <a:solidFill>
                  <a:schemeClr val="tx1"/>
                </a:solidFill>
              </a:rPr>
              <a:t> input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Typically, also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Does not need the internal state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Unless it happens to be an output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CC04-D8F7-794E-51DD-04E4B9B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066D-4B83-D7D2-4222-2DC4DEDC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40" y="1969175"/>
            <a:ext cx="5052185" cy="2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0AC7-8075-E644-3962-EA787F2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7019-3B31-64D2-296D-122758AE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6" y="1655632"/>
            <a:ext cx="4402786" cy="12304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block 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always_comb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Takes current state and input</a:t>
            </a:r>
          </a:p>
          <a:p>
            <a:pPr lvl="1"/>
            <a:r>
              <a:rPr lang="en-US" dirty="0"/>
              <a:t>Describes next state and 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D3F8-BCB5-E405-00BD-BA01EC55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74475-04D0-6A56-1777-7D4344B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3" y="2886047"/>
            <a:ext cx="4032699" cy="2672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7599B0-AFA5-9CCF-ADF6-4A23394B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49" y="3182331"/>
            <a:ext cx="4606737" cy="2128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1B90E1-3FCC-62E1-38CD-FC07522D1181}"/>
              </a:ext>
            </a:extLst>
          </p:cNvPr>
          <p:cNvSpPr txBox="1">
            <a:spLocks/>
          </p:cNvSpPr>
          <p:nvPr/>
        </p:nvSpPr>
        <p:spPr>
          <a:xfrm>
            <a:off x="6126480" y="1655632"/>
            <a:ext cx="4402786" cy="12304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always_ff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Registers values for next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8406-350F-7DEC-9EB7-59A83496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8621-F42C-18D7-4484-F7BE502A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739455" cy="4329817"/>
          </a:xfrm>
        </p:spPr>
        <p:txBody>
          <a:bodyPr/>
          <a:lstStyle/>
          <a:p>
            <a:r>
              <a:rPr lang="en-US" dirty="0"/>
              <a:t>We now have the FSM description</a:t>
            </a:r>
          </a:p>
          <a:p>
            <a:r>
              <a:rPr lang="en-US" dirty="0"/>
              <a:t>Three parts</a:t>
            </a:r>
          </a:p>
          <a:p>
            <a:r>
              <a:rPr lang="en-US" dirty="0"/>
              <a:t>Module declaration</a:t>
            </a:r>
          </a:p>
          <a:p>
            <a:pPr lvl="1"/>
            <a:r>
              <a:rPr lang="en-US" dirty="0"/>
              <a:t>Inputs, outputs</a:t>
            </a:r>
          </a:p>
          <a:p>
            <a:r>
              <a:rPr lang="en-US" dirty="0" err="1"/>
              <a:t>Always_comb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Describes next state</a:t>
            </a:r>
          </a:p>
          <a:p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Updates state from </a:t>
            </a:r>
            <a:r>
              <a:rPr lang="en-US" dirty="0" err="1"/>
              <a:t>next_state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E08C-8708-6F58-F8E9-0B8520DA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47754-D078-7FAA-C019-9C781DBF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08" y="462895"/>
            <a:ext cx="3659304" cy="54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1E13-6B4D-B0A8-4647-46D15C8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D185-9765-976F-DCEE-F62C225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vs. Non-Blocking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BA04-1DA6-C725-C279-A5312EA3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4F5A-34CB-016A-CE71-AFDFF82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7678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assignment</a:t>
            </a:r>
          </a:p>
          <a:p>
            <a:pPr lvl="1"/>
            <a:r>
              <a:rPr lang="en-US" dirty="0"/>
              <a:t>Use = in SV</a:t>
            </a:r>
          </a:p>
          <a:p>
            <a:pPr lvl="1"/>
            <a:r>
              <a:rPr lang="en-US" dirty="0"/>
              <a:t>Performed sequentially</a:t>
            </a:r>
          </a:p>
          <a:p>
            <a:pPr lvl="1"/>
            <a:r>
              <a:rPr lang="en-US" dirty="0"/>
              <a:t>Assigns temporary (i.e., non-state variables)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always_comb</a:t>
            </a:r>
            <a:r>
              <a:rPr lang="en-US" dirty="0"/>
              <a:t> or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Non-blocking assignment</a:t>
            </a:r>
          </a:p>
          <a:p>
            <a:pPr lvl="1"/>
            <a:r>
              <a:rPr lang="en-US" dirty="0"/>
              <a:t>Use &lt;= in SV</a:t>
            </a:r>
          </a:p>
          <a:p>
            <a:pPr lvl="1"/>
            <a:r>
              <a:rPr lang="en-US" dirty="0"/>
              <a:t>Assigns registers / states</a:t>
            </a:r>
          </a:p>
          <a:p>
            <a:pPr lvl="1"/>
            <a:r>
              <a:rPr lang="en-US" dirty="0"/>
              <a:t>Only in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Always update in parallel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D0572-E97C-C3D7-870B-A8D58192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792" y="1036315"/>
            <a:ext cx="4032699" cy="267283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AE97DDEF-9EC2-F980-B8F4-FB64F7C224B5}"/>
              </a:ext>
            </a:extLst>
          </p:cNvPr>
          <p:cNvSpPr/>
          <p:nvPr/>
        </p:nvSpPr>
        <p:spPr>
          <a:xfrm>
            <a:off x="7667625" y="1614488"/>
            <a:ext cx="485775" cy="189547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038DA-03E2-ED63-A568-CEB79A0B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00" y="4204461"/>
            <a:ext cx="3499961" cy="1617224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456BFDD-131B-FB40-CB0C-A8D877B822DF}"/>
              </a:ext>
            </a:extLst>
          </p:cNvPr>
          <p:cNvSpPr/>
          <p:nvPr/>
        </p:nvSpPr>
        <p:spPr>
          <a:xfrm>
            <a:off x="7256341" y="4132482"/>
            <a:ext cx="485775" cy="168920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68A0A2-F74A-CFB2-5724-67E5E770DBAA}"/>
              </a:ext>
            </a:extLst>
          </p:cNvPr>
          <p:cNvCxnSpPr/>
          <p:nvPr/>
        </p:nvCxnSpPr>
        <p:spPr>
          <a:xfrm>
            <a:off x="5946126" y="2520915"/>
            <a:ext cx="1409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6890D-3556-D2F6-7428-13B792D8C435}"/>
              </a:ext>
            </a:extLst>
          </p:cNvPr>
          <p:cNvCxnSpPr>
            <a:cxnSpLocks/>
          </p:cNvCxnSpPr>
          <p:nvPr/>
        </p:nvCxnSpPr>
        <p:spPr>
          <a:xfrm>
            <a:off x="5117609" y="4036495"/>
            <a:ext cx="1909631" cy="9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B622-8459-73A6-D7D3-898654E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64E3-DF48-E4ED-5889-F58D371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FDC83-7A6C-5FF1-68FA-49EFD463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51" y="1731803"/>
            <a:ext cx="8324579" cy="342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20DF-683B-5312-3E4C-A86C7CA5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Answer on LLM Auto-Grader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F6F6-7AD7-EAF8-3394-3741A1BD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11" y="1502063"/>
            <a:ext cx="10058400" cy="4329817"/>
          </a:xfrm>
        </p:spPr>
        <p:txBody>
          <a:bodyPr/>
          <a:lstStyle/>
          <a:p>
            <a:r>
              <a:rPr lang="en-US" dirty="0"/>
              <a:t>Use AI to get instant feedback</a:t>
            </a:r>
          </a:p>
          <a:p>
            <a:r>
              <a:rPr lang="en-US" dirty="0"/>
              <a:t>Enter your answer</a:t>
            </a:r>
          </a:p>
          <a:p>
            <a:r>
              <a:rPr lang="en-US" dirty="0"/>
              <a:t>Hit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44B47-9A22-2A03-C4D1-03FACD4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3A41AE-CC15-59EF-575D-545EB09AD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7" y="3184450"/>
            <a:ext cx="4265444" cy="234211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6A875E-B928-22E7-2C87-066449E3BDEC}"/>
              </a:ext>
            </a:extLst>
          </p:cNvPr>
          <p:cNvSpPr/>
          <p:nvPr/>
        </p:nvSpPr>
        <p:spPr>
          <a:xfrm>
            <a:off x="557223" y="5023769"/>
            <a:ext cx="770972" cy="6780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4AE96-40E3-7A2D-A299-64EB92A4DD58}"/>
              </a:ext>
            </a:extLst>
          </p:cNvPr>
          <p:cNvCxnSpPr/>
          <p:nvPr/>
        </p:nvCxnSpPr>
        <p:spPr>
          <a:xfrm flipH="1">
            <a:off x="959867" y="2808875"/>
            <a:ext cx="560765" cy="21723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DCED94-7B34-EF93-A133-33FE1ADC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32342"/>
            <a:ext cx="4847265" cy="396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63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AD9-58EC-D633-ABD0-BE2F006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FSM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FSM model </a:t>
                </a:r>
              </a:p>
              <a:p>
                <a:r>
                  <a:rPr lang="en-US" dirty="0"/>
                  <a:t>Remember:  Updates in </a:t>
                </a:r>
                <a:r>
                  <a:rPr lang="en-US" dirty="0" err="1"/>
                  <a:t>always_ff</a:t>
                </a:r>
                <a:r>
                  <a:rPr lang="en-US" dirty="0"/>
                  <a:t> are in parallel</a:t>
                </a:r>
              </a:p>
              <a:p>
                <a:pPr lvl="1"/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 is based 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current</a:t>
                </a:r>
                <a:r>
                  <a:rPr lang="en-US" dirty="0"/>
                  <a:t> cycle value, not next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CF-9B5E-8820-4108-99BF00C1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356B-0E7C-1022-C774-0F232DA2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2" y="4184882"/>
            <a:ext cx="3379886" cy="1793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/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Equivalent FSM model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if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blipFill>
                <a:blip r:embed="rId4"/>
                <a:stretch>
                  <a:fillRect l="-2200" t="-1802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8271BA4-DF4C-FD64-ED15-D6D172A74570}"/>
              </a:ext>
            </a:extLst>
          </p:cNvPr>
          <p:cNvSpPr/>
          <p:nvPr/>
        </p:nvSpPr>
        <p:spPr>
          <a:xfrm>
            <a:off x="5329238" y="4596954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639" r="-2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87" t="-1639" r="-1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87" t="-1639" r="-3150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57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61FD-254F-52A6-5103-88ACC30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A9-9761-1AD5-5D51-300ABA6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0F2776-6213-DBF6-3EA4-11E59F7E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616" y="1539277"/>
            <a:ext cx="4935064" cy="4329817"/>
          </a:xfrm>
        </p:spPr>
        <p:txBody>
          <a:bodyPr/>
          <a:lstStyle/>
          <a:p>
            <a:r>
              <a:rPr lang="en-US" dirty="0"/>
              <a:t>Try answering on the auto-grader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C1AC6-EEDD-18FE-A063-E080B2207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26" y="2237510"/>
            <a:ext cx="11538164" cy="30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0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A81F-E9C8-6053-9BC2-65EC9216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B6D3-E70D-DF07-D628-02E968B3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A9BC-5A0A-751B-D833-28754DD7B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9B22-6941-9D9C-3162-D7615AA7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B07333-C961-76EB-B1A9-9E9FA86BC2A7}"/>
              </a:ext>
            </a:extLst>
          </p:cNvPr>
          <p:cNvSpPr/>
          <p:nvPr/>
        </p:nvSpPr>
        <p:spPr>
          <a:xfrm>
            <a:off x="377126" y="198900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5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28E3-4921-0C56-A533-398EF8A0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A303-E155-1E49-68C6-DD2D2C8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early  combinational example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 potential synchronous version could work as follows</a:t>
                </a:r>
              </a:p>
              <a:p>
                <a:r>
                  <a:rPr lang="en-US" dirty="0"/>
                  <a:t>On each clock cycle: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combinationally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1"/>
                <a:r>
                  <a:rPr lang="en-US" dirty="0"/>
                  <a:t>Output computation has a full clock cycle </a:t>
                </a:r>
              </a:p>
              <a:p>
                <a:pPr lvl="1"/>
                <a:r>
                  <a:rPr lang="en-US" dirty="0"/>
                  <a:t>Output is in a known state by the end of each clock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  <a:blipFill>
                <a:blip r:embed="rId2"/>
                <a:stretch>
                  <a:fillRect l="-2497" t="-1645" r="-1665" b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BB2A-F886-FABB-1956-DBB03482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3B11-05C0-308B-633A-E9B09FFD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72" y="3290056"/>
            <a:ext cx="5416919" cy="1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4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28A9B-5945-1698-33C1-CDB4B9C5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14" y="2231841"/>
            <a:ext cx="4467849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482" y="1724561"/>
            <a:ext cx="4795805" cy="4004332"/>
          </a:xfrm>
        </p:spPr>
        <p:txBody>
          <a:bodyPr/>
          <a:lstStyle/>
          <a:p>
            <a:r>
              <a:rPr lang="en-US" sz="2400" dirty="0"/>
              <a:t>Making module synchronous is easy</a:t>
            </a:r>
          </a:p>
          <a:p>
            <a:r>
              <a:rPr lang="en-US" sz="2400" dirty="0"/>
              <a:t>First add two inputs to ports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Reset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63587" y="2630878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87068" y="3110702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94312" y="24000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94312" y="2933445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EEFB-C2EC-92D3-9C08-06444C9C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FD85-1EED-7486-5268-0D614F4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B295-1F25-DDDA-BA1A-0470E6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</p:spPr>
            <p:txBody>
              <a:bodyPr/>
              <a:lstStyle/>
              <a:p>
                <a:r>
                  <a:rPr lang="en-US" dirty="0"/>
                  <a:t>States: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Combinational statements: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Putting it together: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Desired output with one cycle delay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  <a:blipFill>
                <a:blip r:embed="rId2"/>
                <a:stretch>
                  <a:fillRect l="-263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ACC7-A60A-FC3E-42A2-1944B2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2E174-6875-6B11-AEE9-1D4C403C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5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4" y="2557400"/>
            <a:ext cx="6431592" cy="3311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2E0C-94CD-31C0-996B-ECDE631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179-5EFE-D1D2-7E18-CC97CDD9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Single Cycle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</p:spPr>
            <p:txBody>
              <a:bodyPr/>
              <a:lstStyle/>
              <a:p>
                <a:r>
                  <a:rPr lang="en-US" dirty="0"/>
                  <a:t>Problem:   Each clock cycle has a “lot” to do</a:t>
                </a:r>
              </a:p>
              <a:p>
                <a:r>
                  <a:rPr lang="en-US" dirty="0"/>
                  <a:t>Longest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has: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 One addition</a:t>
                </a:r>
              </a:p>
              <a:p>
                <a:pPr lvl="1"/>
                <a:r>
                  <a:rPr lang="en-US" dirty="0"/>
                  <a:t>We will discuss finding longest paths in detail later</a:t>
                </a:r>
              </a:p>
              <a:p>
                <a:r>
                  <a:rPr lang="en-US" dirty="0"/>
                  <a:t>In general, two multiplications in one clock cycle is hard</a:t>
                </a:r>
              </a:p>
              <a:p>
                <a:r>
                  <a:rPr lang="en-US" dirty="0"/>
                  <a:t>Typically, we limit to one multiplication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  <a:blipFill>
                <a:blip r:embed="rId2"/>
                <a:stretch>
                  <a:fillRect l="-2393" t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6020-97C5-A727-CEEC-B3FEDA06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1F946F-A98C-4B2E-46E8-86FE95D5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277" y="1434204"/>
            <a:ext cx="4527673" cy="2331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B72-7D9C-3F48-9EF4-D7F681D9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89"/>
          <a:stretch>
            <a:fillRect/>
          </a:stretch>
        </p:blipFill>
        <p:spPr>
          <a:xfrm>
            <a:off x="7662863" y="3999939"/>
            <a:ext cx="4002404" cy="16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reduce the computation per cycle by breaking operation in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04D9-0AA9-72AC-7B0B-1898F88B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</p:spPr>
            <p:txBody>
              <a:bodyPr/>
              <a:lstStyle/>
              <a:p>
                <a:r>
                  <a:rPr lang="en-US" dirty="0"/>
                  <a:t>Registers: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Substituting in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output matches desired equation</a:t>
                </a:r>
              </a:p>
              <a:p>
                <a:pPr lvl="1"/>
                <a:r>
                  <a:rPr lang="en-US" dirty="0"/>
                  <a:t>But at a two cycle delay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  <a:blipFill>
                <a:blip r:embed="rId2"/>
                <a:stretch>
                  <a:fillRect l="-220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E6F9-19F4-0A4A-4FA3-26E074FE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73DEB-F43F-A3A7-9662-5C8345891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022" y="1539277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8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2BD6C9-D65C-B3B8-29B4-7ECB967F8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1326814"/>
            <a:ext cx="11765017" cy="2048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678C2-8EFF-C96D-0111-2BB88A3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Problem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</p:spPr>
            <p:txBody>
              <a:bodyPr/>
              <a:lstStyle/>
              <a:p>
                <a:r>
                  <a:rPr lang="en-US" dirty="0"/>
                  <a:t>Hint:</a:t>
                </a:r>
              </a:p>
              <a:p>
                <a:pPr lvl="1"/>
                <a:r>
                  <a:rPr lang="en-US" dirty="0"/>
                  <a:t>Write the computation graph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registers at input and intermediate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  <a:blipFill>
                <a:blip r:embed="rId3"/>
                <a:stretch>
                  <a:fillRect l="-1708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1122-680D-A4F3-469D-5547090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8CF7F-A002-6BCB-5A55-E0C639178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042" y="2937164"/>
            <a:ext cx="5161608" cy="29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5AED-16DF-9525-008F-EAF54294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6939-3B41-A11F-61B4-F9E1D73D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8796-A866-26AA-6C8B-83103A19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338A0-2560-27EF-C79C-8A24F72A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C6E6F7-FCD4-4006-DD3F-E0033126760F}"/>
              </a:ext>
            </a:extLst>
          </p:cNvPr>
          <p:cNvSpPr/>
          <p:nvPr/>
        </p:nvSpPr>
        <p:spPr>
          <a:xfrm>
            <a:off x="410464" y="249383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6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3F2-D206-B1F2-D919-8C207914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B100-E1E6-FAC4-C1F0-44FCF782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Hardware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64F9-E6AE-9E97-11BD-FA2A329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97DC3-64A2-A6FB-92C8-CC34F2207C1F}"/>
              </a:ext>
            </a:extLst>
          </p:cNvPr>
          <p:cNvSpPr/>
          <p:nvPr/>
        </p:nvSpPr>
        <p:spPr>
          <a:xfrm>
            <a:off x="978360" y="1787857"/>
            <a:ext cx="1619589" cy="7418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FCC16A-4098-FB3D-8803-021DD2C14602}"/>
              </a:ext>
            </a:extLst>
          </p:cNvPr>
          <p:cNvSpPr/>
          <p:nvPr/>
        </p:nvSpPr>
        <p:spPr>
          <a:xfrm>
            <a:off x="978361" y="2711459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6328E4-0381-476E-16AE-3E538864987C}"/>
              </a:ext>
            </a:extLst>
          </p:cNvPr>
          <p:cNvSpPr/>
          <p:nvPr/>
        </p:nvSpPr>
        <p:spPr>
          <a:xfrm>
            <a:off x="978361" y="3730439"/>
            <a:ext cx="1619588" cy="8372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B63CF-0228-D0F7-4DB6-0F7B8D83457F}"/>
              </a:ext>
            </a:extLst>
          </p:cNvPr>
          <p:cNvSpPr/>
          <p:nvPr/>
        </p:nvSpPr>
        <p:spPr>
          <a:xfrm>
            <a:off x="978361" y="4749419"/>
            <a:ext cx="1619588" cy="837271"/>
          </a:xfrm>
          <a:prstGeom prst="roundRect">
            <a:avLst/>
          </a:prstGeom>
          <a:solidFill>
            <a:srgbClr val="F7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F47FD9-2680-8F5A-76BF-889A3D3A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125" y="1655632"/>
            <a:ext cx="6036476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Write a behavioral description (e.g., in SV)</a:t>
            </a:r>
          </a:p>
          <a:p>
            <a:pPr lvl="1"/>
            <a:r>
              <a:rPr lang="en-US" sz="2000" dirty="0"/>
              <a:t>What should the module should do exactly?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 simulation</a:t>
            </a:r>
          </a:p>
          <a:p>
            <a:pPr lvl="1"/>
            <a:r>
              <a:rPr lang="en-US" sz="2000" dirty="0"/>
              <a:t>Validate module does what it is supposed to do?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>
                <a:solidFill>
                  <a:srgbClr val="0070C0"/>
                </a:solidFill>
              </a:rPr>
              <a:t>Synthesis</a:t>
            </a:r>
          </a:p>
          <a:p>
            <a:pPr lvl="1"/>
            <a:r>
              <a:rPr lang="en-US" sz="2000" dirty="0"/>
              <a:t>Map the description into real hardware </a:t>
            </a:r>
          </a:p>
          <a:p>
            <a:pPr lvl="1"/>
            <a:r>
              <a:rPr lang="en-US" sz="2000" dirty="0"/>
              <a:t>Gates, FPGA components, 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Next steps</a:t>
            </a:r>
          </a:p>
          <a:p>
            <a:pPr lvl="1"/>
            <a:r>
              <a:rPr lang="en-US" sz="2000" dirty="0"/>
              <a:t>Place route, timing analysis, bitstreams, …</a:t>
            </a:r>
          </a:p>
          <a:p>
            <a:pPr lvl="1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71D861-4435-923B-3B0F-F1A44788CFBE}"/>
              </a:ext>
            </a:extLst>
          </p:cNvPr>
          <p:cNvSpPr/>
          <p:nvPr/>
        </p:nvSpPr>
        <p:spPr>
          <a:xfrm>
            <a:off x="304800" y="2412999"/>
            <a:ext cx="484632" cy="2336419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DF126CF-261C-CC58-02DB-80A6D6B6E8D0}"/>
              </a:ext>
            </a:extLst>
          </p:cNvPr>
          <p:cNvSpPr/>
          <p:nvPr/>
        </p:nvSpPr>
        <p:spPr>
          <a:xfrm>
            <a:off x="9009381" y="1821824"/>
            <a:ext cx="528319" cy="2014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8DEFD2CC-FB78-9617-3757-082B29EDC83B}"/>
              </a:ext>
            </a:extLst>
          </p:cNvPr>
          <p:cNvSpPr/>
          <p:nvPr/>
        </p:nvSpPr>
        <p:spPr>
          <a:xfrm>
            <a:off x="9009381" y="4002695"/>
            <a:ext cx="528319" cy="1881269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D35BD1-2B17-4759-4D23-6D1363C05567}"/>
              </a:ext>
            </a:extLst>
          </p:cNvPr>
          <p:cNvSpPr txBox="1"/>
          <p:nvPr/>
        </p:nvSpPr>
        <p:spPr>
          <a:xfrm>
            <a:off x="9906000" y="262393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B4A95-D8CB-4960-D99B-4E19A2E19AEF}"/>
              </a:ext>
            </a:extLst>
          </p:cNvPr>
          <p:cNvSpPr txBox="1"/>
          <p:nvPr/>
        </p:nvSpPr>
        <p:spPr>
          <a:xfrm>
            <a:off x="9905999" y="4749418"/>
            <a:ext cx="13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Later units…</a:t>
            </a:r>
          </a:p>
        </p:txBody>
      </p:sp>
    </p:spTree>
    <p:extLst>
      <p:ext uri="{BB962C8B-B14F-4D97-AF65-F5344CB8AC3E}">
        <p14:creationId xmlns:p14="http://schemas.microsoft.com/office/powerpoint/2010/main" val="2072640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20BA-6938-119D-6C5A-3CD437F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D947-B1FC-9ABC-3ABA-018EF324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DD1F-C57C-7A74-E8AB-D277DE9D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771257" cy="4329817"/>
          </a:xfrm>
        </p:spPr>
        <p:txBody>
          <a:bodyPr/>
          <a:lstStyle/>
          <a:p>
            <a:r>
              <a:rPr lang="en-US" dirty="0"/>
              <a:t>All files in </a:t>
            </a:r>
            <a:r>
              <a:rPr lang="en-US" dirty="0" err="1"/>
              <a:t>github</a:t>
            </a:r>
            <a:r>
              <a:rPr lang="en-US" dirty="0"/>
              <a:t> repo:</a:t>
            </a:r>
            <a:br>
              <a:rPr lang="en-US" dirty="0"/>
            </a:br>
            <a:r>
              <a:rPr lang="en-US" dirty="0" err="1"/>
              <a:t>hwdesign</a:t>
            </a:r>
            <a:r>
              <a:rPr lang="en-US" dirty="0"/>
              <a:t>/demos/</a:t>
            </a:r>
            <a:r>
              <a:rPr lang="en-US" dirty="0" err="1"/>
              <a:t>fsm</a:t>
            </a:r>
            <a:endParaRPr lang="en-US" dirty="0"/>
          </a:p>
          <a:p>
            <a:r>
              <a:rPr lang="en-US" dirty="0"/>
              <a:t>Define counter in file counter.sv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9F7E-5C49-5A50-FCA1-C7A04E32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E79B-8F41-D6DA-3205-C0BA3B82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5" y="2881265"/>
            <a:ext cx="5198041" cy="288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F681B-D1B7-F1F9-ECFC-BB34DC5C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75" y="376123"/>
            <a:ext cx="4232045" cy="55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6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586-8909-ECB6-44BA-EAB0FC07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 Build a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D4EF-66DF-9E98-D84B-EE36AF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488926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</a:p>
          <a:p>
            <a:pPr lvl="1"/>
            <a:r>
              <a:rPr lang="en-US" sz="2200" dirty="0"/>
              <a:t>A second SV module</a:t>
            </a:r>
          </a:p>
          <a:p>
            <a:pPr lvl="1"/>
            <a:r>
              <a:rPr lang="en-US" sz="2200" dirty="0"/>
              <a:t>Connects to device under test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i.e</a:t>
            </a:r>
            <a:r>
              <a:rPr lang="en-US" sz="2200" dirty="0"/>
              <a:t>, module we want to test)</a:t>
            </a:r>
          </a:p>
          <a:p>
            <a:pPr lvl="1"/>
            <a:r>
              <a:rPr lang="en-US" sz="2200" dirty="0"/>
              <a:t>TB provides DUT inputs</a:t>
            </a:r>
          </a:p>
          <a:p>
            <a:pPr lvl="1"/>
            <a:r>
              <a:rPr lang="en-US" sz="2200" dirty="0"/>
              <a:t>TB verifies DUT outputs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41F-34CF-71B3-5708-5592220F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83C913-A7EE-B208-8B2A-8AE4ACC7E4EC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5378B-F395-21B3-CD03-D22D795CA320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D1FB1-EBB5-C569-9F65-23A3DA5F8838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66E8-0BF9-0D19-5E84-79B0726679DF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B44F9-261A-B2ED-F21A-418EA24748F6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64217-36FD-BE2D-36E3-5977C33FC5F0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37386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F2FB-2E14-6AAA-2F32-BDEEF63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65B-5403-3A32-620E-35561CD0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Testbenches are not Synthesized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0D5A-55B5-57A9-6F42-A825259E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539277"/>
            <a:ext cx="5824159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Testbenches are for simulation only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They will not be synthesized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Can include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un-synthesizable</a:t>
            </a:r>
            <a:r>
              <a:rPr lang="en-US" sz="2400" dirty="0">
                <a:solidFill>
                  <a:schemeClr val="tx1"/>
                </a:solidFill>
              </a:rPr>
              <a:t> constructs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Print statements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File read and write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Complex data structures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Modern trend: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TB in higher level language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E.g.,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7ED3-6EBB-CB25-6D8A-C2F832C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FBF9A-368A-F5AB-EAFD-478F1EDEF9F2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082A9-6A00-60F6-6A18-AE4CAB871A56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B851D-D972-B3AC-0BFD-1280F67F0B37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7C807A-F5CC-22C9-1F7B-A3A8AAFB400E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29DFF-2BA2-3D64-2CD3-C6A14976FC61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96C98-F2FB-A2ED-FE48-9317EC448F16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740603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77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7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7C8C-2E9A-3C4E-3077-A8A67C4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2209-4B04-2D99-F3D1-5177C5C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3FCF-5AE3-B748-5852-EB0E74F3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4920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Runs once at time 0 of the simulation </a:t>
            </a:r>
          </a:p>
          <a:p>
            <a:pPr lvl="1"/>
            <a:r>
              <a:rPr lang="en-US" dirty="0"/>
              <a:t>(or at its scheduled start time if delayed).</a:t>
            </a:r>
          </a:p>
          <a:p>
            <a:r>
              <a:rPr lang="en-US" dirty="0"/>
              <a:t>Statements inside run sequentially</a:t>
            </a:r>
          </a:p>
          <a:p>
            <a:pPr lvl="1"/>
            <a:r>
              <a:rPr lang="en-US" dirty="0"/>
              <a:t>like a small program.</a:t>
            </a:r>
          </a:p>
          <a:p>
            <a:r>
              <a:rPr lang="en-US" dirty="0"/>
              <a:t> Not synthesizable for hardware</a:t>
            </a:r>
          </a:p>
          <a:p>
            <a:pPr lvl="1"/>
            <a:r>
              <a:rPr lang="en-US" dirty="0"/>
              <a:t>Simulation‑only construct.</a:t>
            </a:r>
          </a:p>
          <a:p>
            <a:pPr lvl="1"/>
            <a:r>
              <a:rPr lang="en-US" dirty="0"/>
              <a:t>Used for test benches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initial blocks and always blocks.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2715-15BE-B59D-133A-FD52869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B895C-0345-5FF0-9D0C-B9B759DC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89" y="328490"/>
            <a:ext cx="4955640" cy="5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5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6E108-6E6E-6F88-664C-7F688C75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results outputs</a:t>
            </a:r>
          </a:p>
          <a:p>
            <a:r>
              <a:rPr lang="en-US" dirty="0"/>
              <a:t>Match expected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57A8C-D5C7-78CB-4063-48906635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2" y="2838435"/>
            <a:ext cx="8560106" cy="14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04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16287</TotalTime>
  <Words>2088</Words>
  <Application>Microsoft Office PowerPoint</Application>
  <PresentationFormat>Widescreen</PresentationFormat>
  <Paragraphs>432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Calibri</vt:lpstr>
      <vt:lpstr>Cambria Math</vt:lpstr>
      <vt:lpstr>Courier New</vt:lpstr>
      <vt:lpstr>Wingdings</vt:lpstr>
      <vt:lpstr>Retrospect</vt:lpstr>
      <vt:lpstr>Unit 2  Sequential Logic and FSMs</vt:lpstr>
      <vt:lpstr>Learning Objectives</vt:lpstr>
      <vt:lpstr>Outline</vt:lpstr>
      <vt:lpstr>Limitations of Combinational Logic</vt:lpstr>
      <vt:lpstr>Synchronous (Sequential) Logic</vt:lpstr>
      <vt:lpstr>Clock Signal</vt:lpstr>
      <vt:lpstr>Synchronous Logic Example:  Counter</vt:lpstr>
      <vt:lpstr>Key Components of a Module</vt:lpstr>
      <vt:lpstr>What is a State?</vt:lpstr>
      <vt:lpstr>Synchronous Logic as an FSM</vt:lpstr>
      <vt:lpstr>Building an FSM in Hardware</vt:lpstr>
      <vt:lpstr>Register Physical Model</vt:lpstr>
      <vt:lpstr>Register:  Discrete-Time Model</vt:lpstr>
      <vt:lpstr>Writing the Counter in System Verilog</vt:lpstr>
      <vt:lpstr>Counter Main Body</vt:lpstr>
      <vt:lpstr>Putting it Together</vt:lpstr>
      <vt:lpstr>Blocking vs. Non-Blocking</vt:lpstr>
      <vt:lpstr>Example Problem</vt:lpstr>
      <vt:lpstr>Try Answer on LLM Auto-Grader</vt:lpstr>
      <vt:lpstr>Solution:  FSM Model</vt:lpstr>
      <vt:lpstr>In-Class Exercise</vt:lpstr>
      <vt:lpstr>Outline</vt:lpstr>
      <vt:lpstr>Synchronous Version of ReLU + Linear</vt:lpstr>
      <vt:lpstr>Synchronous Module Declaration</vt:lpstr>
      <vt:lpstr>System Verilog Main Body</vt:lpstr>
      <vt:lpstr>Synchronous Block Diagram</vt:lpstr>
      <vt:lpstr>FSM Description</vt:lpstr>
      <vt:lpstr>A More Complex Example</vt:lpstr>
      <vt:lpstr>Problems with Single Cycle Implementation</vt:lpstr>
      <vt:lpstr>A Two Cycle Design</vt:lpstr>
      <vt:lpstr>Analysis</vt:lpstr>
      <vt:lpstr>In Class Problem  </vt:lpstr>
      <vt:lpstr>Outline</vt:lpstr>
      <vt:lpstr>Building the Hardware Roadmap</vt:lpstr>
      <vt:lpstr>Linear+ReLU Example</vt:lpstr>
      <vt:lpstr>Next Step:  Build a Testbench</vt:lpstr>
      <vt:lpstr>Testbenches are not Synthesized</vt:lpstr>
      <vt:lpstr>Testbench Declaration</vt:lpstr>
      <vt:lpstr>Test Vectors</vt:lpstr>
      <vt:lpstr>Initial Block</vt:lpstr>
      <vt:lpstr>Test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500</cp:revision>
  <cp:lastPrinted>2018-09-04T19:00:14Z</cp:lastPrinted>
  <dcterms:created xsi:type="dcterms:W3CDTF">2015-03-22T11:15:32Z</dcterms:created>
  <dcterms:modified xsi:type="dcterms:W3CDTF">2026-02-02T16:38:27Z</dcterms:modified>
</cp:coreProperties>
</file>