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8" r:id="rId2"/>
    <p:sldId id="271" r:id="rId3"/>
    <p:sldId id="375" r:id="rId4"/>
    <p:sldId id="359" r:id="rId5"/>
    <p:sldId id="284" r:id="rId6"/>
    <p:sldId id="360" r:id="rId7"/>
    <p:sldId id="361" r:id="rId8"/>
    <p:sldId id="362" r:id="rId9"/>
    <p:sldId id="363" r:id="rId10"/>
    <p:sldId id="358" r:id="rId11"/>
    <p:sldId id="365" r:id="rId12"/>
    <p:sldId id="364" r:id="rId13"/>
    <p:sldId id="366" r:id="rId14"/>
    <p:sldId id="369" r:id="rId15"/>
    <p:sldId id="370" r:id="rId16"/>
    <p:sldId id="382" r:id="rId17"/>
    <p:sldId id="331" r:id="rId18"/>
    <p:sldId id="333" r:id="rId19"/>
    <p:sldId id="334" r:id="rId20"/>
    <p:sldId id="335" r:id="rId21"/>
    <p:sldId id="330" r:id="rId22"/>
    <p:sldId id="336" r:id="rId23"/>
    <p:sldId id="327" r:id="rId24"/>
    <p:sldId id="386" r:id="rId25"/>
    <p:sldId id="329" r:id="rId26"/>
    <p:sldId id="332" r:id="rId27"/>
    <p:sldId id="387" r:id="rId28"/>
    <p:sldId id="340" r:id="rId29"/>
    <p:sldId id="383" r:id="rId30"/>
    <p:sldId id="372" r:id="rId31"/>
    <p:sldId id="373" r:id="rId32"/>
    <p:sldId id="376" r:id="rId33"/>
    <p:sldId id="377" r:id="rId34"/>
    <p:sldId id="378" r:id="rId35"/>
    <p:sldId id="379" r:id="rId36"/>
    <p:sldId id="380" r:id="rId37"/>
    <p:sldId id="384" r:id="rId38"/>
    <p:sldId id="385" r:id="rId39"/>
    <p:sldId id="278" r:id="rId40"/>
    <p:sldId id="279" r:id="rId41"/>
    <p:sldId id="283" r:id="rId42"/>
    <p:sldId id="280" r:id="rId43"/>
    <p:sldId id="381" r:id="rId44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F8E0"/>
    <a:srgbClr val="CCFFCC"/>
    <a:srgbClr val="CCFF99"/>
    <a:srgbClr val="92278F"/>
    <a:srgbClr val="E3DFF7"/>
    <a:srgbClr val="EAE5EB"/>
    <a:srgbClr val="DEE6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57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156" y="5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B7D6DDD3-D7E9-488B-B626-1E8285E424D8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65CF6084-2C3C-4FE7-B181-D16A34290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425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0" y="6171231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7" name="Rectangle 16"/>
          <p:cNvSpPr/>
          <p:nvPr userDrawn="1"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64" y="6292310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91440" indent="-91440">
              <a:buSzPct val="100000"/>
              <a:buFont typeface="Wingdings" panose="05000000000000000000" pitchFamily="2" charset="2"/>
              <a:buChar char="q"/>
              <a:defRPr/>
            </a:lvl1pPr>
          </a:lstStyle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7" name="Picture 16" descr="final-logo-3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379551"/>
            <a:ext cx="1117381" cy="81740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45" y="6405564"/>
            <a:ext cx="2113225" cy="334949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54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6019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214193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214193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32682" y="6508672"/>
            <a:ext cx="984019" cy="273844"/>
          </a:xfrm>
          <a:prstGeom prst="rect">
            <a:avLst/>
          </a:prstGeom>
        </p:spPr>
        <p:txBody>
          <a:bodyPr vert="horz" lIns="68567" tIns="34289" rIns="68567" bIns="34289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507" y="6405564"/>
            <a:ext cx="2113225" cy="334949"/>
          </a:xfrm>
          <a:prstGeom prst="rect">
            <a:avLst/>
          </a:prstGeom>
        </p:spPr>
      </p:pic>
      <p:pic>
        <p:nvPicPr>
          <p:cNvPr id="16" name="Picture 15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2543" y="6446621"/>
            <a:ext cx="923615" cy="6756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6160663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9" name="Rectangle 8"/>
          <p:cNvSpPr/>
          <p:nvPr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402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539277"/>
            <a:ext cx="10058400" cy="432981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097280" y="14330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07" y="6307398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2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5" Type="http://schemas.openxmlformats.org/officeDocument/2006/relationships/image" Target="../media/image100.png"/><Relationship Id="rId4" Type="http://schemas.openxmlformats.org/officeDocument/2006/relationships/image" Target="../media/image90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Unit 1 </a:t>
            </a:r>
            <a:br>
              <a:rPr lang="en-US" sz="6600" dirty="0"/>
            </a:br>
            <a:r>
              <a:rPr lang="en-US" sz="6600" dirty="0"/>
              <a:t>Data Types and Combinational Logic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EL-GY 9463:  Introduction to Hardware Design</a:t>
            </a:r>
          </a:p>
          <a:p>
            <a:r>
              <a:rPr lang="en-US" dirty="0" err="1"/>
              <a:t>ProfS.</a:t>
            </a:r>
            <a:r>
              <a:rPr lang="en-US" dirty="0"/>
              <a:t> Sundeep Rangan, Siddharth Garg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293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Represent signals in </a:t>
            </a:r>
            <a:r>
              <a:rPr lang="en-US" sz="2400" dirty="0" err="1"/>
              <a:t>SystemVerilog</a:t>
            </a:r>
            <a:r>
              <a:rPr lang="en-US" sz="2400" dirty="0"/>
              <a:t> of various types:</a:t>
            </a:r>
          </a:p>
          <a:p>
            <a:pPr lvl="1"/>
            <a:r>
              <a:rPr lang="en-US" sz="2200" dirty="0"/>
              <a:t>Logical vectors and signed and unsigned integers</a:t>
            </a:r>
            <a:endParaRPr lang="en-US" sz="2200" dirty="0">
              <a:solidFill>
                <a:schemeClr val="accent1"/>
              </a:solidFill>
            </a:endParaRPr>
          </a:p>
          <a:p>
            <a:r>
              <a:rPr lang="en-US" sz="2400" dirty="0"/>
              <a:t>Implement arithmetic operations (additions, multiplications, bit operations)</a:t>
            </a:r>
          </a:p>
          <a:p>
            <a:r>
              <a:rPr lang="en-US" sz="2400" dirty="0"/>
              <a:t>Identify cases for 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overflow</a:t>
            </a:r>
            <a:r>
              <a:rPr lang="en-US" sz="2400" dirty="0">
                <a:solidFill>
                  <a:schemeClr val="tx1"/>
                </a:solidFill>
              </a:rPr>
              <a:t> and 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truncation</a:t>
            </a:r>
          </a:p>
          <a:p>
            <a:r>
              <a:rPr lang="en-US" sz="2400" dirty="0">
                <a:solidFill>
                  <a:schemeClr val="tx1"/>
                </a:solidFill>
              </a:rPr>
              <a:t>Create simple 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combinational logic </a:t>
            </a:r>
            <a:r>
              <a:rPr lang="en-US" sz="2400" dirty="0">
                <a:solidFill>
                  <a:schemeClr val="tx1"/>
                </a:solidFill>
              </a:rPr>
              <a:t>modules to implement functions</a:t>
            </a:r>
          </a:p>
          <a:p>
            <a:r>
              <a:rPr lang="en-US" sz="2400" dirty="0">
                <a:solidFill>
                  <a:schemeClr val="tx1"/>
                </a:solidFill>
              </a:rPr>
              <a:t>Draw a 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block diagram representation </a:t>
            </a:r>
            <a:r>
              <a:rPr lang="en-US" sz="2400" dirty="0">
                <a:solidFill>
                  <a:schemeClr val="tx1"/>
                </a:solidFill>
              </a:rPr>
              <a:t>of the module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553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CDBD8-97BD-BD4B-0778-271EFC52E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AD057-D3F2-E232-A2EC-F5F7BB624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E3D57-8DAD-6747-B49B-441425F5B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Basic Data Types:  Logic and Integers</a:t>
            </a:r>
          </a:p>
          <a:p>
            <a:r>
              <a:rPr lang="en-US" sz="2400" dirty="0"/>
              <a:t>Truncation and Overflows</a:t>
            </a:r>
          </a:p>
          <a:p>
            <a:r>
              <a:rPr lang="en-US" sz="2400" dirty="0"/>
              <a:t>Bit Shifts</a:t>
            </a:r>
          </a:p>
          <a:p>
            <a:r>
              <a:rPr lang="en-US" sz="2400" dirty="0"/>
              <a:t>Simple Combinational Logic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6C136-6EC3-17C9-7DA2-B52F0D5DE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46D70949-E262-43AA-4CF2-AF66F64A569E}"/>
              </a:ext>
            </a:extLst>
          </p:cNvPr>
          <p:cNvSpPr/>
          <p:nvPr/>
        </p:nvSpPr>
        <p:spPr>
          <a:xfrm>
            <a:off x="433915" y="1441808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292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5A70C-6A7B-A44B-619F-C8E9F1E36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Description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D929C-B361-E992-2894-61D42D74F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4998720" cy="4329817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Hardware Description Language (HDL)</a:t>
            </a:r>
          </a:p>
          <a:p>
            <a:pPr lvl="1"/>
            <a:r>
              <a:rPr lang="en-US" dirty="0"/>
              <a:t>Example:  Verilog, </a:t>
            </a:r>
            <a:r>
              <a:rPr lang="en-US" dirty="0" err="1"/>
              <a:t>SystemVerilog</a:t>
            </a:r>
            <a:endParaRPr lang="en-US" dirty="0"/>
          </a:p>
          <a:p>
            <a:pPr lvl="1"/>
            <a:r>
              <a:rPr lang="en-US" dirty="0"/>
              <a:t>Describes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hardware structure </a:t>
            </a:r>
            <a:r>
              <a:rPr lang="en-US" dirty="0"/>
              <a:t>and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behavior</a:t>
            </a:r>
          </a:p>
          <a:p>
            <a:pPr lvl="1"/>
            <a:r>
              <a:rPr lang="en-US" dirty="0"/>
              <a:t>Items natively run in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parallel</a:t>
            </a:r>
          </a:p>
          <a:p>
            <a:pPr lvl="1"/>
            <a:r>
              <a:rPr lang="en-US" dirty="0"/>
              <a:t>Code is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synthesized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Code becomes to logic elements, registers, …</a:t>
            </a:r>
          </a:p>
          <a:p>
            <a:pPr lvl="1"/>
            <a:r>
              <a:rPr lang="en-US" dirty="0"/>
              <a:t>Also become testbenches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C2C444-C8C7-2807-7D38-AD9C93B8D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786B204-7E34-4ACB-7BC1-2F8BDA0B3B22}"/>
              </a:ext>
            </a:extLst>
          </p:cNvPr>
          <p:cNvSpPr txBox="1">
            <a:spLocks/>
          </p:cNvSpPr>
          <p:nvPr/>
        </p:nvSpPr>
        <p:spPr>
          <a:xfrm>
            <a:off x="6299202" y="1539276"/>
            <a:ext cx="4795520" cy="432981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Software</a:t>
            </a:r>
          </a:p>
          <a:p>
            <a:pPr lvl="1"/>
            <a:r>
              <a:rPr lang="en-US" dirty="0"/>
              <a:t>Example:  C, python</a:t>
            </a:r>
          </a:p>
          <a:p>
            <a:pPr lvl="1"/>
            <a:r>
              <a:rPr lang="en-US" dirty="0"/>
              <a:t>Describes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sequential</a:t>
            </a:r>
            <a:r>
              <a:rPr lang="en-US" dirty="0"/>
              <a:t> behavior</a:t>
            </a:r>
          </a:p>
          <a:p>
            <a:pPr lvl="1"/>
            <a:r>
              <a:rPr lang="en-US" dirty="0"/>
              <a:t>One instruction after another	</a:t>
            </a:r>
          </a:p>
          <a:p>
            <a:pPr lvl="1"/>
            <a:r>
              <a:rPr lang="en-US" dirty="0"/>
              <a:t>Code is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compiled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Becomes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machine code </a:t>
            </a:r>
            <a:r>
              <a:rPr lang="en-US" dirty="0"/>
              <a:t>for a processor</a:t>
            </a:r>
          </a:p>
        </p:txBody>
      </p:sp>
      <p:pic>
        <p:nvPicPr>
          <p:cNvPr id="1026" name="Picture 2" descr="Logic Gate Examples">
            <a:extLst>
              <a:ext uri="{FF2B5EF4-FFF2-40B4-BE49-F238E27FC236}">
                <a16:creationId xmlns:a16="http://schemas.microsoft.com/office/drawing/2014/main" id="{7254A09A-C8AB-2B23-67C4-EA6D8BC21E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4675" y="4242574"/>
            <a:ext cx="2289175" cy="1626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tarting Python — Python Beginners ...">
            <a:extLst>
              <a:ext uri="{FF2B5EF4-FFF2-40B4-BE49-F238E27FC236}">
                <a16:creationId xmlns:a16="http://schemas.microsoft.com/office/drawing/2014/main" id="{AEDF925E-6AA8-A3DF-BA77-7ABAB4097D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6745" y="3811588"/>
            <a:ext cx="3212374" cy="1909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189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6F688-1E1C-DE63-651F-86BBFB211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Verilog vs Verilog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5FDDC-091C-3DB4-2329-A530676D9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Verilog</a:t>
            </a:r>
          </a:p>
          <a:p>
            <a:pPr lvl="1"/>
            <a:r>
              <a:rPr lang="en-US" sz="2200" dirty="0"/>
              <a:t>Created in 1983-84</a:t>
            </a:r>
          </a:p>
          <a:p>
            <a:pPr lvl="1"/>
            <a:r>
              <a:rPr lang="en-US" sz="2200" dirty="0"/>
              <a:t>Standardized in 1995.  Became mainstream RTL</a:t>
            </a:r>
          </a:p>
          <a:p>
            <a:pPr lvl="1"/>
            <a:r>
              <a:rPr lang="en-US" sz="2200" dirty="0"/>
              <a:t>Largely used for legacy designs</a:t>
            </a:r>
          </a:p>
          <a:p>
            <a:pPr lvl="1"/>
            <a:endParaRPr lang="en-US" sz="2200" dirty="0"/>
          </a:p>
          <a:p>
            <a:r>
              <a:rPr lang="en-US" sz="2400" dirty="0">
                <a:solidFill>
                  <a:schemeClr val="accent1"/>
                </a:solidFill>
              </a:rPr>
              <a:t>System Verilog (this unit)</a:t>
            </a:r>
          </a:p>
          <a:p>
            <a:pPr lvl="1"/>
            <a:r>
              <a:rPr lang="en-US" sz="2200" dirty="0"/>
              <a:t>Developed in 2002</a:t>
            </a:r>
          </a:p>
          <a:p>
            <a:pPr lvl="1"/>
            <a:r>
              <a:rPr lang="en-US" sz="2200" dirty="0"/>
              <a:t>Extends Verilog</a:t>
            </a:r>
          </a:p>
          <a:p>
            <a:pPr lvl="1"/>
            <a:r>
              <a:rPr lang="en-US" sz="2200" dirty="0"/>
              <a:t>Better abstraction, parameterization</a:t>
            </a:r>
          </a:p>
          <a:p>
            <a:pPr lvl="1"/>
            <a:r>
              <a:rPr lang="en-US" sz="2200" dirty="0"/>
              <a:t>Significantly improved testbench</a:t>
            </a:r>
          </a:p>
          <a:p>
            <a:pPr lvl="1"/>
            <a:r>
              <a:rPr lang="en-US" sz="2200" dirty="0"/>
              <a:t>Overwhelming design choice today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33BFB3-6F6A-C9D6-82A5-AE6CA8DBE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</a:t>
            </a:fld>
            <a:endParaRPr lang="en-US" dirty="0"/>
          </a:p>
        </p:txBody>
      </p:sp>
      <p:pic>
        <p:nvPicPr>
          <p:cNvPr id="4098" name="Picture 2" descr="Guide to Verilog — Beginner Guide | by ...">
            <a:extLst>
              <a:ext uri="{FF2B5EF4-FFF2-40B4-BE49-F238E27FC236}">
                <a16:creationId xmlns:a16="http://schemas.microsoft.com/office/drawing/2014/main" id="{ADD75851-13C6-B643-8109-363844771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0980" y="2010056"/>
            <a:ext cx="3314700" cy="138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An open source SystemVerilog Test Suite">
            <a:extLst>
              <a:ext uri="{FF2B5EF4-FFF2-40B4-BE49-F238E27FC236}">
                <a16:creationId xmlns:a16="http://schemas.microsoft.com/office/drawing/2014/main" id="{801DBC8A-FE69-D5CD-7DDD-73B2C46A7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0980" y="3603644"/>
            <a:ext cx="3395329" cy="178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9283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F6AF0-B6A7-47F3-BA43-8EF3A038B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 and Logic 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6CA02-8E31-2E24-09DF-47348DE92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876550"/>
            <a:ext cx="10058400" cy="2992544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Logic</a:t>
            </a:r>
            <a:r>
              <a:rPr lang="en-US" dirty="0"/>
              <a:t>:  Basic data type in System Verilog</a:t>
            </a:r>
          </a:p>
          <a:p>
            <a:pPr lvl="1"/>
            <a:r>
              <a:rPr lang="en-US" dirty="0"/>
              <a:t>Value 0, 1, X or Z</a:t>
            </a:r>
          </a:p>
          <a:p>
            <a:pPr lvl="1"/>
            <a:r>
              <a:rPr lang="en-US" dirty="0"/>
              <a:t>X = unknown or unspecified</a:t>
            </a:r>
          </a:p>
          <a:p>
            <a:pPr lvl="1"/>
            <a:r>
              <a:rPr lang="en-US" dirty="0"/>
              <a:t>Z = not connected</a:t>
            </a:r>
          </a:p>
          <a:p>
            <a:pPr lvl="1"/>
            <a:r>
              <a:rPr lang="en-US" dirty="0"/>
              <a:t>We will discuss X and Z later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Logic vector </a:t>
            </a:r>
          </a:p>
          <a:p>
            <a:pPr lvl="1"/>
            <a:r>
              <a:rPr lang="en-US" dirty="0"/>
              <a:t>A group of log bits</a:t>
            </a:r>
          </a:p>
          <a:p>
            <a:pPr lvl="1"/>
            <a:r>
              <a:rPr lang="en-US" dirty="0"/>
              <a:t>Each vector has a bit width. 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03DFBA-1DF7-DBCA-2948-F492A9D52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1F4329-BB51-A663-7676-666D46044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067" y="1473798"/>
            <a:ext cx="7255539" cy="1255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644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210B6-E695-EEA0-8CF3-5AFEDEBF8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52724-E0FF-34F0-46B6-FAADF9489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8183A-1E79-4F9F-CA02-79C53A6128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830" y="3349625"/>
            <a:ext cx="9841949" cy="215434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System Verilog has natural ways to pack and unpack bits</a:t>
            </a:r>
          </a:p>
          <a:p>
            <a:r>
              <a:rPr lang="en-US" dirty="0">
                <a:solidFill>
                  <a:schemeClr val="tx1"/>
                </a:solidFill>
              </a:rPr>
              <a:t>Note bits are always counted from 0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81069E-D6C1-E8D5-71FB-ACAF4C30B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A680F5-18B5-42F8-2926-F34C1CF69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730" y="1671988"/>
            <a:ext cx="7662575" cy="1610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013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EB840-B49A-BE3C-8B36-2D680B529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C4D0DF-25FA-B773-45D2-C59F513A6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56EA33-E134-9C1D-F128-EA7189CEC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392" y="1773080"/>
            <a:ext cx="9836594" cy="3051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510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4F4A9-0E06-98F9-C42F-68880260C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0E1D16-7AD7-2F1B-25D9-BF08DC200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2DA1CD-5363-A54E-3CD8-03797D242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01662"/>
            <a:ext cx="8892169" cy="346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9201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23AC3-C705-F782-67B5-B0A4B84AA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A23923-5E7C-A69A-B682-3FEF8E7918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92088" y="3023840"/>
                <a:ext cx="9863592" cy="2845254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Integers can be regarded naturally as logic vectors</a:t>
                </a:r>
              </a:p>
              <a:p>
                <a:r>
                  <a:rPr lang="en-US" dirty="0"/>
                  <a:t>Vector bit width will determine the range of the integer</a:t>
                </a:r>
              </a:p>
              <a:p>
                <a:r>
                  <a:rPr lang="en-US" dirty="0"/>
                  <a:t>Must indicate if the value is signed or unsigned:</a:t>
                </a:r>
              </a:p>
              <a:p>
                <a:pPr lvl="1"/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Unsigned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bits.  Represents a value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[0,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Signed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bits:  Represents a value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Example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lang="en-US" dirty="0"/>
                  <a:t> bits</a:t>
                </a:r>
              </a:p>
              <a:p>
                <a:pPr lvl="1"/>
                <a:r>
                  <a:rPr lang="en-US" dirty="0"/>
                  <a:t>Unsigned range is 0, …, 255.  </a:t>
                </a:r>
              </a:p>
              <a:p>
                <a:pPr lvl="1"/>
                <a:r>
                  <a:rPr lang="en-US" dirty="0"/>
                  <a:t>Signed range is -128, …, 127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A23923-5E7C-A69A-B682-3FEF8E7918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2088" y="3023840"/>
                <a:ext cx="9863592" cy="2845254"/>
              </a:xfrm>
              <a:blipFill>
                <a:blip r:embed="rId2"/>
                <a:stretch>
                  <a:fillRect l="-1483" t="-2998" b="-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816A83-FE31-5AB6-905E-93FCEBB2E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10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FBA0D8A-EF73-B6FE-D4DE-2A0D1103D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088" y="1623040"/>
            <a:ext cx="8158501" cy="109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6237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5A9C4-9936-4C15-2BD6-7624A1E02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Complement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DA8529-3D69-C472-8D04-49E406B993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Signed values are represented with two complement</a:t>
                </a:r>
              </a:p>
              <a:p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represented by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-bit signed integer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Range </a:t>
                </a:r>
                <a:r>
                  <a:rPr lang="en-US" i="1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endParaRPr lang="en-US" b="0" i="1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r>
                  <a:rPr lang="en-US" dirty="0"/>
                  <a:t>:  the “sign” bit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−2:0]</m:t>
                    </m:r>
                  </m:oMath>
                </a14:m>
                <a:r>
                  <a:rPr lang="en-US" dirty="0"/>
                  <a:t>:  the “lower” bits</a:t>
                </a:r>
              </a:p>
              <a:p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≥0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:  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Sign bit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Lower bits: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−2:0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&lt;0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Sign bit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Lower bits: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−2:0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</a:p>
              <a:p>
                <a:pPr lvl="1"/>
                <a:endParaRPr lang="en-US" dirty="0"/>
              </a:p>
              <a:p>
                <a:pPr marL="201168" lvl="1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DA8529-3D69-C472-8D04-49E406B993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29521C-F821-60B3-3E0A-B9EB8ACA1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11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517088-D107-1AE8-0562-B9379CF234EF}"/>
              </a:ext>
            </a:extLst>
          </p:cNvPr>
          <p:cNvSpPr/>
          <p:nvPr/>
        </p:nvSpPr>
        <p:spPr>
          <a:xfrm>
            <a:off x="8756650" y="2161913"/>
            <a:ext cx="2678430" cy="5207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A66B17-6203-EDB0-62CA-74EEDEB3E4F9}"/>
              </a:ext>
            </a:extLst>
          </p:cNvPr>
          <p:cNvSpPr/>
          <p:nvPr/>
        </p:nvSpPr>
        <p:spPr>
          <a:xfrm>
            <a:off x="8032750" y="2155563"/>
            <a:ext cx="368300" cy="5270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0BCE4E0-F91A-C70C-4B9F-004DE224BE78}"/>
                  </a:ext>
                </a:extLst>
              </p:cNvPr>
              <p:cNvSpPr txBox="1"/>
              <p:nvPr/>
            </p:nvSpPr>
            <p:spPr>
              <a:xfrm>
                <a:off x="7747000" y="2782669"/>
                <a:ext cx="106394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US" dirty="0"/>
                  <a:t>Sign bit</a:t>
                </a: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0BCE4E0-F91A-C70C-4B9F-004DE224BE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7000" y="2782669"/>
                <a:ext cx="1063946" cy="646331"/>
              </a:xfrm>
              <a:prstGeom prst="rect">
                <a:avLst/>
              </a:prstGeom>
              <a:blipFill>
                <a:blip r:embed="rId3"/>
                <a:stretch>
                  <a:fillRect l="-5172" t="-4673" b="-74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F038D09-46B6-46F9-8D5A-3D2861358E9D}"/>
                  </a:ext>
                </a:extLst>
              </p:cNvPr>
              <p:cNvSpPr txBox="1"/>
              <p:nvPr/>
            </p:nvSpPr>
            <p:spPr>
              <a:xfrm>
                <a:off x="9346794" y="2782668"/>
                <a:ext cx="134004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lang="en-US" dirty="0"/>
                  <a:t>Lower bits</a:t>
                </a: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−2:0]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F038D09-46B6-46F9-8D5A-3D2861358E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6794" y="2782668"/>
                <a:ext cx="1340047" cy="646331"/>
              </a:xfrm>
              <a:prstGeom prst="rect">
                <a:avLst/>
              </a:prstGeom>
              <a:blipFill>
                <a:blip r:embed="rId4"/>
                <a:stretch>
                  <a:fillRect l="-3636" t="-4717" b="-84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75776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27C22-CE56-D58E-DB44-790A4A993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8D019E-53EA-6D26-4EAD-61C9D1778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DAAD75-C309-B98C-7A4B-98F7BF55C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442" y="1571366"/>
            <a:ext cx="9283442" cy="4404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5606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A57A6-AA37-F724-9591-3550583D4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Two’s Complement = Modulo Arithmetic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C11882-010C-9885-6F52-C4FE31E21F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Two’s complement is equivalent to modulo arithmetic</a:t>
                </a:r>
              </a:p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Modulo equality</a:t>
                </a:r>
                <a:r>
                  <a:rPr lang="en-US" dirty="0"/>
                  <a:t>:  Integers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are equal module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</m:oMath>
                </a14:m>
                <a:r>
                  <a:rPr lang="en-US" dirty="0"/>
                  <a:t>:</a:t>
                </a:r>
                <a:br>
                  <a:rPr lang="en-US" dirty="0"/>
                </a:b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⟺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for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some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Example: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 = 18 = −14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16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2≠−2</m:t>
                    </m:r>
                  </m:oMath>
                </a14:m>
                <a:r>
                  <a:rPr lang="en-US" dirty="0"/>
                  <a:t> mod 16</a:t>
                </a:r>
              </a:p>
              <a:p>
                <a:r>
                  <a:rPr lang="en-US" dirty="0"/>
                  <a:t>Given any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its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-bit two’s complement representation is the unique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∈[0,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with: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Example:  Find the following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dirty="0"/>
                  <a:t> bits two’s complement representations: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=5⇒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=5=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0101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   (since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already in range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[0,15)</m:t>
                    </m:r>
                  </m:oMath>
                </a14:m>
                <a:r>
                  <a:rPr lang="en-US" dirty="0"/>
                  <a:t> 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=−5⇒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=−5+16=11=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1011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C11882-010C-9885-6F52-C4FE31E21F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21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F40D71-5D7C-A687-C503-186081D57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4255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99EB9-7C68-9041-6A3C-1297179D0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Verilog Literals and Constants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E192D-FAE4-9C96-2FC3-02B5ADC1C0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Literal</a:t>
            </a:r>
            <a:r>
              <a:rPr lang="en-US" dirty="0"/>
              <a:t>:  A value written directly in code (not stored in a storage element)</a:t>
            </a:r>
          </a:p>
          <a:p>
            <a:pPr lvl="1"/>
            <a:r>
              <a:rPr lang="en-US" dirty="0"/>
              <a:t>Constant.  Does not change</a:t>
            </a:r>
          </a:p>
          <a:p>
            <a:r>
              <a:rPr lang="en-US" dirty="0"/>
              <a:t>SV has a specific syntax:  &lt;</a:t>
            </a:r>
            <a:r>
              <a:rPr lang="en-US" dirty="0">
                <a:solidFill>
                  <a:schemeClr val="accent5"/>
                </a:solidFill>
              </a:rPr>
              <a:t>size</a:t>
            </a:r>
            <a:r>
              <a:rPr lang="en-US" dirty="0"/>
              <a:t>&gt;'&lt;</a:t>
            </a:r>
            <a:r>
              <a:rPr lang="en-US" dirty="0">
                <a:solidFill>
                  <a:srgbClr val="00B050"/>
                </a:solidFill>
              </a:rPr>
              <a:t>base</a:t>
            </a:r>
            <a:r>
              <a:rPr lang="en-US" dirty="0"/>
              <a:t>&gt;&lt;</a:t>
            </a:r>
            <a:r>
              <a:rPr lang="en-US" dirty="0">
                <a:solidFill>
                  <a:schemeClr val="accent2"/>
                </a:solidFill>
              </a:rPr>
              <a:t>digits</a:t>
            </a:r>
            <a:r>
              <a:rPr lang="en-US" dirty="0"/>
              <a:t>&gt;</a:t>
            </a:r>
          </a:p>
          <a:p>
            <a:pPr lvl="1"/>
            <a:r>
              <a:rPr lang="en-US" dirty="0"/>
              <a:t>&lt;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size</a:t>
            </a:r>
            <a:r>
              <a:rPr lang="en-US" dirty="0"/>
              <a:t>&gt; = number of bits.  If omitted, takes a default value, typically 32-bits</a:t>
            </a:r>
          </a:p>
          <a:p>
            <a:pPr lvl="1"/>
            <a:r>
              <a:rPr lang="en-US" dirty="0"/>
              <a:t>&lt;</a:t>
            </a:r>
            <a:r>
              <a:rPr lang="en-US" dirty="0">
                <a:solidFill>
                  <a:srgbClr val="00B050"/>
                </a:solidFill>
              </a:rPr>
              <a:t>base</a:t>
            </a:r>
            <a:r>
              <a:rPr lang="en-US" dirty="0"/>
              <a:t>&gt; = b, o, d, h : binary, octal, decimal, hex</a:t>
            </a:r>
          </a:p>
          <a:p>
            <a:pPr lvl="1"/>
            <a:r>
              <a:rPr lang="en-US" dirty="0"/>
              <a:t>&lt;</a:t>
            </a:r>
            <a:r>
              <a:rPr lang="en-US" dirty="0">
                <a:solidFill>
                  <a:schemeClr val="accent2"/>
                </a:solidFill>
              </a:rPr>
              <a:t>digits</a:t>
            </a:r>
            <a:r>
              <a:rPr lang="en-US" dirty="0"/>
              <a:t>&gt; = value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8'd13 → 8‑bit decimal 13</a:t>
            </a:r>
          </a:p>
          <a:p>
            <a:pPr lvl="1"/>
            <a:r>
              <a:rPr lang="en-US" dirty="0"/>
              <a:t>8'b0101_1010 → 8‑bit binary</a:t>
            </a:r>
          </a:p>
          <a:p>
            <a:pPr lvl="1"/>
            <a:r>
              <a:rPr lang="en-US" dirty="0"/>
              <a:t>4'hF → 4‑bit hex (1111)</a:t>
            </a:r>
          </a:p>
          <a:p>
            <a:pPr lvl="1"/>
            <a:r>
              <a:rPr lang="en-US" dirty="0"/>
              <a:t>16'd8 → 16‑bit decimal 8</a:t>
            </a:r>
          </a:p>
          <a:p>
            <a:pPr lvl="1"/>
            <a:r>
              <a:rPr lang="en-US" dirty="0"/>
              <a:t>8'b0101 → 8‑bit binary 0101</a:t>
            </a:r>
          </a:p>
          <a:p>
            <a:pPr lvl="1"/>
            <a:r>
              <a:rPr lang="en-US" dirty="0"/>
              <a:t>-8'd5 → 5-bit two-complement decimal -5 (11111011)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2F21BD-B82D-5E89-4427-FDA76B83D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5151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EC67A-C05D-15F6-3980-2E8E9AA6B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43B09-1178-AF10-099A-DB610A84A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F075C0-4B3E-BE33-4AB6-F8447FB58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9" y="1522168"/>
            <a:ext cx="9384201" cy="4114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0683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8E6F1-2331-0299-8E98-5DD870E22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9534A-711A-746A-CD87-2757287B4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4389F-9FFF-3620-5945-22D815165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Basic Data Types:  Logic and Integers</a:t>
            </a:r>
          </a:p>
          <a:p>
            <a:r>
              <a:rPr lang="en-US" sz="2400" dirty="0"/>
              <a:t>Truncation and Overflows</a:t>
            </a:r>
          </a:p>
          <a:p>
            <a:r>
              <a:rPr lang="en-US" sz="2400" dirty="0"/>
              <a:t>Bit Shifts</a:t>
            </a:r>
          </a:p>
          <a:p>
            <a:r>
              <a:rPr lang="en-US" sz="2400" dirty="0"/>
              <a:t>Simple Combinational Logic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AB36F0-1A92-9048-28FB-FF669708C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16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B9935E60-DD1D-63B7-2279-C18443300053}"/>
              </a:ext>
            </a:extLst>
          </p:cNvPr>
          <p:cNvSpPr/>
          <p:nvPr/>
        </p:nvSpPr>
        <p:spPr>
          <a:xfrm>
            <a:off x="402165" y="1987908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0982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581A6-02E8-0F7A-09AA-4D0F925A2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Truncation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554987-A690-A9E1-D222-36507DEE0D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2605088"/>
                <a:ext cx="9946957" cy="3264006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Occurs when a variable is assigned a value out of range</a:t>
                </a:r>
              </a:p>
              <a:p>
                <a:r>
                  <a:rPr lang="en-US" sz="2400" dirty="0"/>
                  <a:t>In above code we need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∈[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When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is outside this range,  </a:t>
                </a:r>
                <a:r>
                  <a:rPr lang="en-US" sz="2400" dirty="0" err="1"/>
                  <a:t>SystemVerilog</a:t>
                </a:r>
                <a:r>
                  <a:rPr lang="en-US" sz="2400" dirty="0"/>
                  <a:t> will </a:t>
                </a: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truncate</a:t>
                </a:r>
                <a:r>
                  <a:rPr lang="en-US" sz="2400" dirty="0"/>
                  <a:t>:</a:t>
                </a:r>
              </a:p>
              <a:p>
                <a:pPr lvl="1"/>
                <a:r>
                  <a:rPr lang="en-US" sz="2000" dirty="0"/>
                  <a:t>Take the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000" dirty="0"/>
                  <a:t> LSBs 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sz="2000" dirty="0"/>
              </a:p>
              <a:p>
                <a:pPr lvl="1"/>
                <a:r>
                  <a:rPr lang="en-US" sz="2000" dirty="0"/>
                  <a:t>Sign extend if necessary</a:t>
                </a:r>
              </a:p>
              <a:p>
                <a:r>
                  <a:rPr lang="en-US" sz="2400" dirty="0"/>
                  <a:t>Equivalent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0554987-A690-A9E1-D222-36507DEE0D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2605088"/>
                <a:ext cx="9946957" cy="3264006"/>
              </a:xfrm>
              <a:blipFill>
                <a:blip r:embed="rId2"/>
                <a:stretch>
                  <a:fillRect l="-1716" t="-26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8392C3-884C-6E0E-8C8E-0C6DE6B1C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8F3D9D-445A-21DC-DA23-3D91D7F69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585913"/>
            <a:ext cx="5502668" cy="904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0741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24C43-512B-4C5C-63C8-AE3E8FB2E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4D8939-5A04-9550-FA7F-641D3C712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1FC2E6-ECA4-0F5C-AB61-14FDF04E7C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660" y="1681588"/>
            <a:ext cx="9986396" cy="2556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0935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74CD6-3350-022F-FF46-630E679C9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using Binary Representations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3F162-74F3-850A-7489-65ECAF768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19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80A056-FBD9-91D0-2564-5C0426A42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851" y="2368760"/>
            <a:ext cx="1590188" cy="26306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FEBC3E-9C71-32E7-4A0B-8C651D8B39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534" y="1895261"/>
            <a:ext cx="9307547" cy="192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4738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49DC1-6685-358F-978F-D64404D64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E9712-F7C3-93A6-1979-549F4A9AC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using Modulo Arithmetic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AFED11-31FE-4646-8FD1-A92D7D34C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20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A4700B-053B-8D72-3089-6CD47800F1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190" y="2774559"/>
            <a:ext cx="1590188" cy="26306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B45A01-20BB-99D2-5684-79995F5A5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2077" y="1764216"/>
            <a:ext cx="9827129" cy="2104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088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3E20A-7AA5-4B83-6E3D-C147A53B4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Simulating Truncation in Python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6263FE-4821-A80B-CD1F-DE33E6472F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0" y="1539277"/>
                <a:ext cx="5059680" cy="4329817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This code works for </a:t>
                </a:r>
                <a:r>
                  <a:rPr lang="en-US" sz="2400" dirty="0" err="1"/>
                  <a:t>numpy</a:t>
                </a:r>
                <a:r>
                  <a:rPr lang="en-US" sz="2400" dirty="0"/>
                  <a:t> arrays</a:t>
                </a:r>
              </a:p>
              <a:p>
                <a:r>
                  <a:rPr lang="en-US" sz="2400" dirty="0"/>
                  <a:t>Mask the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LSB</a:t>
                </a:r>
              </a:p>
              <a:p>
                <a:r>
                  <a:rPr lang="en-US" sz="2400" dirty="0"/>
                  <a:t>Then sign extend if necessary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6263FE-4821-A80B-CD1F-DE33E6472F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0" y="1539277"/>
                <a:ext cx="5059680" cy="4329817"/>
              </a:xfrm>
              <a:blipFill>
                <a:blip r:embed="rId2"/>
                <a:stretch>
                  <a:fillRect l="-3373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B2A99B-6287-BEA4-025A-00903A32C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FE6554-D96E-EEF0-4459-77302E243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227" y="1996531"/>
            <a:ext cx="4940774" cy="2348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1029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532F4-ABA3-E09B-15B2-1380AAB89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Saturation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921B1C-4967-D88A-DFD8-E872FB72C3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Truncation results in values far different from original</a:t>
                </a:r>
              </a:p>
              <a:p>
                <a:pPr lvl="1"/>
                <a:r>
                  <a:rPr lang="en-US" sz="2200" dirty="0"/>
                  <a:t>Ex: Truncate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lang="en-US" sz="2200" dirty="0"/>
                  <a:t> to 4 signed bits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⇒9−16=−7</m:t>
                    </m:r>
                  </m:oMath>
                </a14:m>
                <a:r>
                  <a:rPr lang="en-US" sz="2200" dirty="0"/>
                  <a:t> </a:t>
                </a:r>
              </a:p>
              <a:p>
                <a:r>
                  <a:rPr lang="en-US" sz="2400" dirty="0"/>
                  <a:t>Alternatively, can </a:t>
                </a: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saturate</a:t>
                </a:r>
                <a:r>
                  <a:rPr lang="en-US" sz="2200" dirty="0"/>
                  <a:t> </a:t>
                </a:r>
              </a:p>
              <a:p>
                <a:pPr lvl="1"/>
                <a:r>
                  <a:rPr lang="en-US" sz="2000" dirty="0"/>
                  <a:t>Clip to max or min values before assignment</a:t>
                </a:r>
              </a:p>
              <a:p>
                <a:pPr lvl="1"/>
                <a:r>
                  <a:rPr lang="en-US" sz="2000" dirty="0"/>
                  <a:t>Ex:  Truncate 9 to 7 </a:t>
                </a:r>
              </a:p>
              <a:p>
                <a:pPr lvl="1"/>
                <a:r>
                  <a:rPr lang="en-US" sz="2000" dirty="0"/>
                  <a:t>Provides less approximation error</a:t>
                </a:r>
              </a:p>
              <a:p>
                <a:pPr lvl="1"/>
                <a:r>
                  <a:rPr lang="en-US" sz="2000" dirty="0"/>
                  <a:t>But adds a bit of extra logic</a:t>
                </a:r>
              </a:p>
              <a:p>
                <a:r>
                  <a:rPr lang="en-US" sz="2200" dirty="0"/>
                  <a:t>Example to right: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200" b="0" dirty="0"/>
              </a:p>
              <a:p>
                <a:pPr lvl="1"/>
                <a:r>
                  <a:rPr lang="en-US" sz="2000" dirty="0"/>
                  <a:t>Want to assign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921B1C-4967-D88A-DFD8-E872FB72C3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97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9979E-8156-6C7E-34D0-DFD56C923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22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AC100A-5723-5A1E-811F-1A3DB203B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1213" y="2224205"/>
            <a:ext cx="5050773" cy="3644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4118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5F064-ADD6-AB27-9E55-C9CE489AC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 Overflow Rules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A31B8F-D9F5-F567-C26A-2C920BE058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Consider adding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 are both signed or both unsigned:</a:t>
                </a:r>
              </a:p>
              <a:p>
                <a:pPr lvl="1"/>
                <a:r>
                  <a:rPr lang="en-US" sz="2200" dirty="0"/>
                  <a:t>No overflow requires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≥</m:t>
                    </m:r>
                    <m:func>
                      <m:func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  <m:d>
                              <m:d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  <m:d>
                              <m:d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sz="2200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200" b="0" dirty="0"/>
                  <a:t> bit width of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2200" b="0" dirty="0"/>
              </a:p>
              <a:p>
                <a:endParaRPr lang="en-US" sz="2400" dirty="0"/>
              </a:p>
              <a:p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b="0" dirty="0"/>
                  <a:t> is signed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b="0" dirty="0"/>
                  <a:t> is unsigned, </a:t>
                </a:r>
              </a:p>
              <a:p>
                <a:pPr lvl="1"/>
                <a:r>
                  <a:rPr lang="en-US" sz="2200" dirty="0"/>
                  <a:t>No overflow requires</a:t>
                </a:r>
                <a:r>
                  <a:rPr lang="en-US" sz="2200" b="0" dirty="0"/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≥</m:t>
                    </m:r>
                    <m:func>
                      <m:func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  <m:d>
                              <m:d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  <m:d>
                              <m:d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endParaRPr lang="en-US" sz="2200" b="0" dirty="0"/>
              </a:p>
              <a:p>
                <a:pPr lvl="1"/>
                <a:r>
                  <a:rPr lang="en-US" sz="2200" dirty="0"/>
                  <a:t>Example if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en-US" sz="2200" b="0" dirty="0"/>
                  <a:t> (4 bits signed),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r>
                  <a:rPr lang="en-US" sz="2200" b="0" dirty="0"/>
                  <a:t> (4 bits unsigned)</a:t>
                </a:r>
              </a:p>
              <a:p>
                <a:pPr lvl="1"/>
                <a:r>
                  <a:rPr lang="en-US" sz="2200" dirty="0"/>
                  <a:t>Sum is </a:t>
                </a:r>
                <a:r>
                  <a:rPr lang="en-US" sz="2200" b="0" dirty="0"/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=22</m:t>
                    </m:r>
                  </m:oMath>
                </a14:m>
                <a:r>
                  <a:rPr lang="en-US" sz="2200" b="0" dirty="0"/>
                  <a:t> which needs 6 </a:t>
                </a:r>
                <a:r>
                  <a:rPr lang="en-US" sz="2200" dirty="0"/>
                  <a:t>bits signed.  </a:t>
                </a:r>
                <a:endParaRPr lang="en-US" sz="2200" b="0" dirty="0"/>
              </a:p>
              <a:p>
                <a:pPr marL="201168" lvl="1" indent="0">
                  <a:buNone/>
                </a:pPr>
                <a:endParaRPr lang="en-US" sz="2200" b="0" dirty="0"/>
              </a:p>
              <a:p>
                <a:endParaRPr lang="en-US" sz="2200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A31B8F-D9F5-F567-C26A-2C920BE058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97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494160-AC9E-1B50-B6C7-D029D6079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294AFD-E1A0-B7D0-A2CA-AD7F608DC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6515" y="1539277"/>
            <a:ext cx="4492581" cy="1922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8977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6AF92-E8E9-6F6C-BB45-475AA9B90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 in System Verilog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C01B8E-1199-F65B-9713-83D9CC6027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SV does not auto-promote with addition</a:t>
                </a:r>
              </a:p>
              <a:p>
                <a:r>
                  <a:rPr lang="en-US" dirty="0"/>
                  <a:t>Adding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 in SV:</a:t>
                </a:r>
              </a:p>
              <a:p>
                <a:pPr lvl="1"/>
                <a:r>
                  <a:rPr lang="en-US" dirty="0"/>
                  <a:t>Sum is stored in temporary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No additional bit</a:t>
                </a:r>
              </a:p>
              <a:p>
                <a:pPr lvl="1"/>
                <a:r>
                  <a:rPr lang="en-US" dirty="0"/>
                  <a:t>May overflow before assignment</a:t>
                </a:r>
              </a:p>
              <a:p>
                <a:r>
                  <a:rPr lang="en-US" dirty="0"/>
                  <a:t>To avoid overflow:</a:t>
                </a:r>
              </a:p>
              <a:p>
                <a:pPr lvl="1"/>
                <a:r>
                  <a:rPr lang="en-US" dirty="0"/>
                  <a:t>Method 1:  Add one term at a time</a:t>
                </a:r>
              </a:p>
              <a:p>
                <a:pPr lvl="1"/>
                <a:r>
                  <a:rPr lang="en-US" dirty="0"/>
                  <a:t>Method 2:  Extend then add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C01B8E-1199-F65B-9713-83D9CC6027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5C7044-EDAD-1CB0-0617-C9C14B982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F162D4-396F-5D2B-13D8-F564095D0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630" y="1276113"/>
            <a:ext cx="5249008" cy="33913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F95F0B9-123F-A68B-5668-8C3A7B6314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9872" y="4816064"/>
            <a:ext cx="6030167" cy="1181265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9085243-7ABD-C0F4-01E0-3571972CB33D}"/>
              </a:ext>
            </a:extLst>
          </p:cNvPr>
          <p:cNvCxnSpPr>
            <a:cxnSpLocks/>
          </p:cNvCxnSpPr>
          <p:nvPr/>
        </p:nvCxnSpPr>
        <p:spPr>
          <a:xfrm>
            <a:off x="4839872" y="4241800"/>
            <a:ext cx="1427578" cy="1895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E57ADEF-6A4B-5858-9731-24DB1D54F8D1}"/>
              </a:ext>
            </a:extLst>
          </p:cNvPr>
          <p:cNvCxnSpPr>
            <a:cxnSpLocks/>
          </p:cNvCxnSpPr>
          <p:nvPr/>
        </p:nvCxnSpPr>
        <p:spPr>
          <a:xfrm>
            <a:off x="3334386" y="4667486"/>
            <a:ext cx="1227039" cy="6512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89972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5FD15-4F83-138E-B36C-90947C598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E86D62-C1CC-B294-03EF-D935E9865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25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8BA218-0E58-8D46-3F48-6EE974A06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2906"/>
            <a:ext cx="7697274" cy="223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6150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F885A-6075-7B8B-9C2F-8EC60FD23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Multiplication Overflow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A5F981-5232-AF2B-750A-4269E9B6AD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5513070" cy="4329817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Consider multiplying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sz="2400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200" dirty="0"/>
                  <a:t> and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200" dirty="0"/>
                  <a:t> may be signed or unsigned</a:t>
                </a:r>
              </a:p>
              <a:p>
                <a:r>
                  <a:rPr lang="en-US" sz="2400" dirty="0"/>
                  <a:t>To prevent overflow, we need:</a:t>
                </a:r>
                <a:br>
                  <a:rPr lang="en-US" sz="2400" dirty="0"/>
                </a:br>
                <a:br>
                  <a:rPr lang="en-US" sz="2400" dirty="0"/>
                </a:b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 marL="201168" lvl="1" indent="0">
                  <a:buNone/>
                </a:pPr>
                <a:endParaRPr lang="en-US" sz="2200" dirty="0"/>
              </a:p>
              <a:p>
                <a:r>
                  <a:rPr lang="en-US" sz="2400" dirty="0"/>
                  <a:t>SV implementation</a:t>
                </a:r>
              </a:p>
              <a:p>
                <a:pPr lvl="1"/>
                <a:r>
                  <a:rPr lang="en-US" sz="2200" dirty="0"/>
                  <a:t>Unlike addition, SV auto-promotes</a:t>
                </a:r>
              </a:p>
              <a:p>
                <a:pPr lvl="1"/>
                <a:r>
                  <a:rPr lang="en-US" sz="2200" dirty="0"/>
                  <a:t>Stores product in sufficiently large bit width</a:t>
                </a:r>
              </a:p>
              <a:p>
                <a:pPr lvl="1"/>
                <a:r>
                  <a:rPr lang="en-US" sz="2200" dirty="0"/>
                  <a:t>Will then truncate if needed on assignment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A5F981-5232-AF2B-750A-4269E9B6AD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5513070" cy="4329817"/>
              </a:xfrm>
              <a:blipFill>
                <a:blip r:embed="rId2"/>
                <a:stretch>
                  <a:fillRect l="-3097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799F54-F659-F08F-05FC-64F0B5A61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896161-8863-4E53-08B5-37F8BF308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9859" y="2375291"/>
            <a:ext cx="6076973" cy="2380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8390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05E9B-51FD-5E27-267B-408163B70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0D0C2E-1DF9-B1A4-727E-4F01B5E37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A013BE-7793-411D-8838-104EEDFB4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644" y="1550502"/>
            <a:ext cx="8008366" cy="397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606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BAD62-EFD3-4A23-A243-4EE6CCB9F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84E710-867E-3EB4-4D95-9558284903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Two integer types: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dirty="0"/>
                  <a:t> = signed integers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= unsigned</a:t>
                </a:r>
              </a:p>
              <a:p>
                <a:r>
                  <a:rPr lang="en-US" dirty="0"/>
                  <a:t>Each has finite range</a:t>
                </a:r>
              </a:p>
              <a:p>
                <a:r>
                  <a:rPr lang="en-US" dirty="0"/>
                  <a:t>Assignments outside that range result in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overflow</a:t>
                </a:r>
              </a:p>
              <a:p>
                <a:r>
                  <a:rPr lang="en-US" dirty="0"/>
                  <a:t>In case of overflow, system Verilog performs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truncation</a:t>
                </a:r>
              </a:p>
              <a:p>
                <a:r>
                  <a:rPr lang="en-US" dirty="0"/>
                  <a:t>Optionally, you can add code to explicitly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saturate</a:t>
                </a:r>
              </a:p>
              <a:p>
                <a:pPr lvl="1"/>
                <a:r>
                  <a:rPr lang="en-US" dirty="0"/>
                  <a:t>Offers better performance but adds additional logic</a:t>
                </a:r>
              </a:p>
              <a:p>
                <a:r>
                  <a:rPr lang="en-US" dirty="0"/>
                  <a:t>Arithmetic operations result in </a:t>
                </a:r>
                <a:r>
                  <a:rPr lang="en-US" dirty="0" err="1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bitwidth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growth</a:t>
                </a:r>
              </a:p>
              <a:p>
                <a:pPr lvl="1"/>
                <a:r>
                  <a:rPr lang="en-US" dirty="0"/>
                  <a:t>Addition of 2 numbers requires 1 extra bit</a:t>
                </a:r>
              </a:p>
              <a:p>
                <a:pPr lvl="1"/>
                <a:r>
                  <a:rPr lang="en-US" dirty="0"/>
                  <a:t>Multiplication of 2 numbers requires width = product of the two numbers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84E710-867E-3EB4-4D95-9558284903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8E26AF-F136-B272-06EA-D9A44E202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244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BB492-E9C9-93CF-B4F5-530CCE5DA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2F109-E434-41B5-9C69-A3F970FAA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36680-03A2-F5B3-BA11-1314758B8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Basic Data Types:  Logic and Integers</a:t>
            </a:r>
          </a:p>
          <a:p>
            <a:r>
              <a:rPr lang="en-US" sz="2400" dirty="0"/>
              <a:t>Truncation and Overflows</a:t>
            </a:r>
          </a:p>
          <a:p>
            <a:r>
              <a:rPr lang="en-US" sz="2400" dirty="0"/>
              <a:t>Bit Shifts</a:t>
            </a:r>
          </a:p>
          <a:p>
            <a:r>
              <a:rPr lang="en-US" sz="2400" dirty="0"/>
              <a:t>Simple Combinational Logic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7E6366-4703-D2E9-9DFF-3779603F6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29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A7AB81CA-4360-0320-D565-DA0EFDD3FBCD}"/>
              </a:ext>
            </a:extLst>
          </p:cNvPr>
          <p:cNvSpPr/>
          <p:nvPr/>
        </p:nvSpPr>
        <p:spPr>
          <a:xfrm>
            <a:off x="452965" y="2484796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1899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5A4F8-0CE0-6B61-EB16-7195E2609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Bit Shift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D33E44-6115-ED51-B54A-09835C7CD6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Bit shift operators: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≫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≪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Right and left shift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bits</a:t>
                </a:r>
              </a:p>
              <a:p>
                <a:pPr lvl="1"/>
                <a:r>
                  <a:rPr lang="en-US" dirty="0"/>
                  <a:t>Fills in with zeros</a:t>
                </a:r>
              </a:p>
              <a:p>
                <a:r>
                  <a:rPr lang="en-US" dirty="0"/>
                  <a:t>Bit widths always stay the same.</a:t>
                </a:r>
              </a:p>
              <a:p>
                <a:pPr lvl="1"/>
                <a:r>
                  <a:rPr lang="en-US" dirty="0"/>
                  <a:t>Hence, bits may be lost</a:t>
                </a:r>
              </a:p>
              <a:p>
                <a:r>
                  <a:rPr lang="en-US" dirty="0"/>
                  <a:t>Examples:</a:t>
                </a:r>
              </a:p>
              <a:p>
                <a:pPr lvl="1"/>
                <a:r>
                  <a:rPr lang="en-US" b="0" dirty="0"/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1011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0110)≫4=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0000 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1011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101</m:t>
                    </m:r>
                    <m:r>
                      <a:rPr 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0110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)≪3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1011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000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endParaRPr lang="en-US" b="0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D33E44-6115-ED51-B54A-09835C7CD6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D58DF-875B-CC3D-BBC5-97F44E3C5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85645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DA3F2-4868-7784-13B8-F1DAFF4F5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Shift and Bit Widths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E85A9-68B1-CEF0-67BE-2245FC5D0A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3884153" cy="4329817"/>
          </a:xfrm>
        </p:spPr>
        <p:txBody>
          <a:bodyPr/>
          <a:lstStyle/>
          <a:p>
            <a:r>
              <a:rPr lang="en-US" dirty="0"/>
              <a:t>Caution:</a:t>
            </a:r>
          </a:p>
          <a:p>
            <a:pPr lvl="1"/>
            <a:r>
              <a:rPr lang="en-US" dirty="0"/>
              <a:t>Logical bit shifts do not change width</a:t>
            </a:r>
          </a:p>
          <a:p>
            <a:pPr lvl="1"/>
            <a:r>
              <a:rPr lang="en-US" dirty="0"/>
              <a:t>Some bits may be discarded</a:t>
            </a:r>
          </a:p>
          <a:p>
            <a:r>
              <a:rPr lang="en-US" dirty="0"/>
              <a:t>To avoid discarding:</a:t>
            </a:r>
          </a:p>
          <a:p>
            <a:pPr lvl="1"/>
            <a:r>
              <a:rPr lang="en-US" dirty="0"/>
              <a:t>Widen first, then shift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3988D3-98D2-72BD-EE4B-B036025BC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54E606-23CC-759D-6009-B2264C326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0883" y="1714396"/>
            <a:ext cx="5534797" cy="352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4307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CFAD5-9E6E-6104-8490-E001D62CB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Shift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F13232-E39B-313E-E7CE-5C128FB037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6770654" cy="4329817"/>
              </a:xfrm>
            </p:spPr>
            <p:txBody>
              <a:bodyPr/>
              <a:lstStyle/>
              <a:p>
                <a:r>
                  <a:rPr lang="en-US" dirty="0"/>
                  <a:t>Logical Shift Changes Negative Values to Positive</a:t>
                </a:r>
              </a:p>
              <a:p>
                <a:pPr lvl="1"/>
                <a:r>
                  <a:rPr lang="en-US" dirty="0"/>
                  <a:t>Since leading MSBs are filled with zeros</a:t>
                </a:r>
              </a:p>
              <a:p>
                <a:pPr lvl="1"/>
                <a:r>
                  <a:rPr lang="en-US" dirty="0"/>
                  <a:t>Example:  Suppose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=−21 </m:t>
                    </m:r>
                  </m:oMath>
                </a14:m>
                <a:r>
                  <a:rPr lang="en-US" dirty="0"/>
                  <a:t>as an 8-bit signed number </a:t>
                </a:r>
              </a:p>
              <a:p>
                <a:pPr lvl="1"/>
                <a:r>
                  <a:rPr lang="en-US" dirty="0"/>
                  <a:t>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≫2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0011,1011</m:t>
                            </m:r>
                          </m:e>
                        </m:d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=58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Arithmetic shift </a:t>
                </a:r>
              </a:p>
              <a:p>
                <a:pPr lvl="1"/>
                <a:r>
                  <a:rPr lang="en-US" dirty="0"/>
                  <a:t>Fills in leading MSBs with sign bit</a:t>
                </a:r>
              </a:p>
              <a:p>
                <a:pPr lvl="1"/>
                <a:r>
                  <a:rPr lang="en-US" dirty="0"/>
                  <a:t>Written in SV with &gt;&gt;&gt; </a:t>
                </a:r>
              </a:p>
              <a:p>
                <a:pPr lvl="1"/>
                <a:r>
                  <a:rPr lang="en-US" dirty="0"/>
                  <a:t>Ex: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&gt;&gt;&gt;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1111,1011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=−6</m:t>
                    </m:r>
                  </m:oMath>
                </a14:m>
                <a:endParaRPr lang="en-US" b="0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F13232-E39B-313E-E7CE-5C128FB037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6770654" cy="4329817"/>
              </a:xfrm>
              <a:blipFill>
                <a:blip r:embed="rId2"/>
                <a:stretch>
                  <a:fillRect l="-2160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3EA1CB-CE70-5E77-324A-E9F3B61AF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32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90BCE4-7FF0-A644-25AA-00545980F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8730" y="2750360"/>
            <a:ext cx="5306165" cy="295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5434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13754-B5AF-B26A-D7A8-5DFFA8074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vs. SV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C4854CD4-8373-338E-1D12-C1D0B13334F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391666040"/>
                  </p:ext>
                </p:extLst>
              </p:nvPr>
            </p:nvGraphicFramePr>
            <p:xfrm>
              <a:off x="1096963" y="1539875"/>
              <a:ext cx="10058397" cy="2565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52799">
                      <a:extLst>
                        <a:ext uri="{9D8B030D-6E8A-4147-A177-3AD203B41FA5}">
                          <a16:colId xmlns:a16="http://schemas.microsoft.com/office/drawing/2014/main" val="2165237126"/>
                        </a:ext>
                      </a:extLst>
                    </a:gridCol>
                    <a:gridCol w="3352799">
                      <a:extLst>
                        <a:ext uri="{9D8B030D-6E8A-4147-A177-3AD203B41FA5}">
                          <a16:colId xmlns:a16="http://schemas.microsoft.com/office/drawing/2014/main" val="4100662212"/>
                        </a:ext>
                      </a:extLst>
                    </a:gridCol>
                    <a:gridCol w="3352799">
                      <a:extLst>
                        <a:ext uri="{9D8B030D-6E8A-4147-A177-3AD203B41FA5}">
                          <a16:colId xmlns:a16="http://schemas.microsoft.com/office/drawing/2014/main" val="118119825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Operation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System Verilog syntax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Python syntax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60567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Left shift</a:t>
                          </a:r>
                          <a:br>
                            <a:rPr lang="en-US" dirty="0"/>
                          </a:br>
                          <a:r>
                            <a:rPr lang="en-US" dirty="0"/>
                            <a:t>(Logical or arithmetic)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                       or </a:t>
                          </a:r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92310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Arithmetic right shift </a:t>
                          </a:r>
                          <a:br>
                            <a:rPr lang="en-US" dirty="0"/>
                          </a:b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208338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Logical right shift</a:t>
                          </a:r>
                          <a:br>
                            <a:rPr lang="en-US" dirty="0"/>
                          </a:br>
                          <a14:m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oMath>
                          </a14:m>
                          <a:r>
                            <a:rPr lang="en-US" dirty="0"/>
                            <a:t> = number of</a:t>
                          </a:r>
                          <a:r>
                            <a:rPr lang="en-US" baseline="0" dirty="0"/>
                            <a:t> bits in destination</a:t>
                          </a:r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3584745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C4854CD4-8373-338E-1D12-C1D0B13334F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391666040"/>
                  </p:ext>
                </p:extLst>
              </p:nvPr>
            </p:nvGraphicFramePr>
            <p:xfrm>
              <a:off x="1096963" y="1539875"/>
              <a:ext cx="10058397" cy="2565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352799">
                      <a:extLst>
                        <a:ext uri="{9D8B030D-6E8A-4147-A177-3AD203B41FA5}">
                          <a16:colId xmlns:a16="http://schemas.microsoft.com/office/drawing/2014/main" val="2165237126"/>
                        </a:ext>
                      </a:extLst>
                    </a:gridCol>
                    <a:gridCol w="3352799">
                      <a:extLst>
                        <a:ext uri="{9D8B030D-6E8A-4147-A177-3AD203B41FA5}">
                          <a16:colId xmlns:a16="http://schemas.microsoft.com/office/drawing/2014/main" val="4100662212"/>
                        </a:ext>
                      </a:extLst>
                    </a:gridCol>
                    <a:gridCol w="3352799">
                      <a:extLst>
                        <a:ext uri="{9D8B030D-6E8A-4147-A177-3AD203B41FA5}">
                          <a16:colId xmlns:a16="http://schemas.microsoft.com/office/drawing/2014/main" val="118119825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Operation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System Verilog syntax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Python syntax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6056785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Left shift</a:t>
                          </a:r>
                          <a:br>
                            <a:rPr lang="en-US" dirty="0"/>
                          </a:br>
                          <a:r>
                            <a:rPr lang="en-US" dirty="0"/>
                            <a:t>(Logical or arithmetic)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                       or </a:t>
                          </a:r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59231019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Arithmetic right shift </a:t>
                          </a:r>
                          <a:br>
                            <a:rPr lang="en-US" dirty="0"/>
                          </a:b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20833854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82" t="-184667" r="-201091" b="-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3584745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F9A6E9-9DF0-3461-0EA5-32D9F21BC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33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06AD1B-E829-F138-B090-B079CF4EF5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580" y="1962898"/>
            <a:ext cx="857370" cy="2476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7BCE0A0-8A94-4AC1-9E5C-75267F7645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2562" y="1972292"/>
            <a:ext cx="857370" cy="2476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00D41D8-1E60-588B-847A-E4F0DE2241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0159" y="2646044"/>
            <a:ext cx="828791" cy="27626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4645675-A0AD-9073-328A-C5649D40DE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0668" y="2646044"/>
            <a:ext cx="819264" cy="24768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54FCF51-8012-A2F8-E847-957473A6DE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9686" y="3314202"/>
            <a:ext cx="819264" cy="24768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82B8725-3660-E190-7FF5-22FE02B9BF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0668" y="3262289"/>
            <a:ext cx="2333951" cy="333422"/>
          </a:xfrm>
          <a:prstGeom prst="rect">
            <a:avLst/>
          </a:prstGeom>
        </p:spPr>
      </p:pic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D6E0290E-F7BD-295C-51C0-220E298B0480}"/>
              </a:ext>
            </a:extLst>
          </p:cNvPr>
          <p:cNvSpPr txBox="1">
            <a:spLocks/>
          </p:cNvSpPr>
          <p:nvPr/>
        </p:nvSpPr>
        <p:spPr>
          <a:xfrm>
            <a:off x="1097280" y="4416424"/>
            <a:ext cx="9697720" cy="145267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Note:  All shifts in python are arithmetic</a:t>
            </a:r>
          </a:p>
          <a:p>
            <a:r>
              <a:rPr lang="en-US" dirty="0"/>
              <a:t>To emulate logical right shift need a mask </a:t>
            </a:r>
          </a:p>
          <a:p>
            <a:pPr lvl="1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4FC3B4-7DE6-2B9D-75AB-4E5B1E1D9D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144" y="1957631"/>
            <a:ext cx="1012906" cy="240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4044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5A9A8-B4EA-6F9C-7E98-C9C635847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Shift and Powers of Two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A20AD4-B2EB-C86B-496B-B7BA884B92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Arithmetic shifts approximate multiplication by powers of two</a:t>
                </a:r>
              </a:p>
              <a:p>
                <a:r>
                  <a:rPr lang="en-US" dirty="0"/>
                  <a:t>Left shift: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≪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Assuming the MSBs are not discarded</a:t>
                </a:r>
              </a:p>
              <a:p>
                <a:pPr lvl="1"/>
                <a:r>
                  <a:rPr lang="en-US" dirty="0"/>
                  <a:t>Or the value is extended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bits prior to left shift</a:t>
                </a:r>
              </a:p>
              <a:p>
                <a:r>
                  <a:rPr lang="en-US" dirty="0"/>
                  <a:t>Right shift: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&gt;&gt;&gt;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Only approximate since the LSBs will be discarded</a:t>
                </a:r>
              </a:p>
              <a:p>
                <a:pPr lvl="1"/>
                <a:r>
                  <a:rPr lang="en-US" dirty="0"/>
                  <a:t>So, there is a loss in precision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A20AD4-B2EB-C86B-496B-B7BA884B92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7567BB-06EF-5DDB-37A8-2496C0434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6027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D577E-F5BB-0351-43C0-6FF88BC31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288AAF-03D1-0DB8-6591-F60ABD9C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EEB4E7-6FD2-86AE-49C2-4A17D6B7A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18654"/>
            <a:ext cx="9643508" cy="2951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6976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9AEDC-B0B5-00DF-7F30-14D1111D4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6528CE-4D5F-75B3-CDE3-80BE84F88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36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B74A3A-2934-C8FD-CFC8-EBE955D93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100" y="1698010"/>
            <a:ext cx="5466095" cy="37337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4E38142-5D65-2F1A-727A-2C6D50E64F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1946" y="2171488"/>
            <a:ext cx="4324954" cy="201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5653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05A1C-E369-D89B-3069-175D04053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A92FF-B9F5-BFA5-BB47-9925F2C6F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CABC2-1711-49FF-1707-5B6037831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Basic Data Types:  Logic and Integers</a:t>
            </a:r>
          </a:p>
          <a:p>
            <a:r>
              <a:rPr lang="en-US" sz="2400" dirty="0"/>
              <a:t>Truncation and Overflows</a:t>
            </a:r>
          </a:p>
          <a:p>
            <a:r>
              <a:rPr lang="en-US" sz="2400" dirty="0"/>
              <a:t>Bit Shifts</a:t>
            </a:r>
          </a:p>
          <a:p>
            <a:r>
              <a:rPr lang="en-US" sz="2400" dirty="0"/>
              <a:t>Simple Combinational Logic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E16063-D120-2E0C-CC3E-EC5559CCE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37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DF1FCFC3-C12F-2B73-EDBF-F31CBC385847}"/>
              </a:ext>
            </a:extLst>
          </p:cNvPr>
          <p:cNvSpPr/>
          <p:nvPr/>
        </p:nvSpPr>
        <p:spPr>
          <a:xfrm>
            <a:off x="438677" y="2984859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49928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A5B7E-6856-0BF2-EA18-692A7ADDE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and Combinational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574DB-F924-E46C-17D0-88C9E0B2A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Module</a:t>
            </a:r>
            <a:r>
              <a:rPr lang="en-US" sz="2400" dirty="0"/>
              <a:t>: A named circuit block with some inputs and outputs</a:t>
            </a:r>
          </a:p>
          <a:p>
            <a:pPr lvl="1"/>
            <a:r>
              <a:rPr lang="en-US" sz="2000" dirty="0"/>
              <a:t>Fully self-contained</a:t>
            </a:r>
          </a:p>
          <a:p>
            <a:pPr lvl="1"/>
            <a:r>
              <a:rPr lang="en-US" sz="2000" dirty="0"/>
              <a:t>Takes some input signals and produces some outputs</a:t>
            </a:r>
          </a:p>
          <a:p>
            <a:pPr lvl="1"/>
            <a:r>
              <a:rPr lang="en-US" sz="2000" dirty="0"/>
              <a:t>May have sub-modules</a:t>
            </a:r>
          </a:p>
          <a:p>
            <a:pPr lvl="1"/>
            <a:endParaRPr lang="en-US" sz="2000" dirty="0"/>
          </a:p>
          <a:p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Combinational logic</a:t>
            </a:r>
            <a:r>
              <a:rPr lang="en-US" sz="2400" dirty="0"/>
              <a:t>:  Outputs depend only on current inputs</a:t>
            </a:r>
          </a:p>
          <a:p>
            <a:pPr lvl="1"/>
            <a:r>
              <a:rPr lang="en-US" sz="2000" dirty="0"/>
              <a:t>No memory</a:t>
            </a:r>
          </a:p>
          <a:p>
            <a:pPr lvl="1"/>
            <a:r>
              <a:rPr lang="en-US" sz="2000" dirty="0"/>
              <a:t>No storage</a:t>
            </a:r>
          </a:p>
          <a:p>
            <a:pPr lvl="1"/>
            <a:r>
              <a:rPr lang="en-US" sz="2000" dirty="0"/>
              <a:t>We will contrast this type of module with sequential logic in the next unit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73A339-6AD7-1A31-9B78-6379BE7E1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2335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A39AD-C4E3-E69C-1A9B-E391E0A38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Example:  </a:t>
            </a:r>
            <a:r>
              <a:rPr lang="en-US" dirty="0" err="1"/>
              <a:t>ReLU</a:t>
            </a:r>
            <a:r>
              <a:rPr lang="en-US" dirty="0"/>
              <a:t> + Linear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2C3F6B-499A-181F-3FE7-8ECCD425CF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Goal</a:t>
                </a:r>
                <a:r>
                  <a:rPr lang="en-US" sz="2400" dirty="0"/>
                  <a:t>:  Implement a </a:t>
                </a: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combinational logic module </a:t>
                </a:r>
                <a:r>
                  <a:rPr lang="en-US" sz="2400" dirty="0"/>
                  <a:t>for the function</a:t>
                </a:r>
                <a:br>
                  <a:rPr lang="en-US" sz="2400" dirty="0"/>
                </a:br>
                <a:br>
                  <a:rPr lang="en-US" sz="24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 0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2400" b="0" dirty="0"/>
              </a:p>
              <a:p>
                <a:pPr lvl="1"/>
                <a:r>
                  <a:rPr lang="en-US" sz="2400" dirty="0"/>
                  <a:t>Linear function + </a:t>
                </a:r>
                <a:r>
                  <a:rPr lang="en-US" sz="2400" dirty="0" err="1"/>
                  <a:t>ReLU</a:t>
                </a:r>
                <a:endParaRPr lang="en-US" sz="2400" dirty="0"/>
              </a:p>
              <a:p>
                <a:pPr lvl="1"/>
                <a:r>
                  <a:rPr lang="en-US" sz="2400" dirty="0"/>
                  <a:t>Used widely in machine learning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2C3F6B-499A-181F-3FE7-8ECCD425CF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18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71B6C6-52C3-B217-47F8-F3F705812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39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D1FFF23-8720-B06E-AFD6-9918105B9306}"/>
              </a:ext>
            </a:extLst>
          </p:cNvPr>
          <p:cNvSpPr/>
          <p:nvPr/>
        </p:nvSpPr>
        <p:spPr>
          <a:xfrm>
            <a:off x="4773792" y="3704185"/>
            <a:ext cx="1990725" cy="195738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24DBA75-1DA1-3B37-064C-D0CD4B024C95}"/>
              </a:ext>
            </a:extLst>
          </p:cNvPr>
          <p:cNvCxnSpPr/>
          <p:nvPr/>
        </p:nvCxnSpPr>
        <p:spPr>
          <a:xfrm>
            <a:off x="3268842" y="4213772"/>
            <a:ext cx="150495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D4785C0-8EA6-26C6-0F51-78BFECB37F58}"/>
              </a:ext>
            </a:extLst>
          </p:cNvPr>
          <p:cNvCxnSpPr/>
          <p:nvPr/>
        </p:nvCxnSpPr>
        <p:spPr>
          <a:xfrm>
            <a:off x="3268842" y="5071022"/>
            <a:ext cx="150495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D9C9CE2-EB87-E202-5CB2-D6E50B4E525C}"/>
              </a:ext>
            </a:extLst>
          </p:cNvPr>
          <p:cNvCxnSpPr>
            <a:cxnSpLocks/>
          </p:cNvCxnSpPr>
          <p:nvPr/>
        </p:nvCxnSpPr>
        <p:spPr>
          <a:xfrm>
            <a:off x="6764517" y="4604297"/>
            <a:ext cx="130813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FB4964D-ABD3-D4C7-D031-49F37CBFB325}"/>
              </a:ext>
            </a:extLst>
          </p:cNvPr>
          <p:cNvCxnSpPr/>
          <p:nvPr/>
        </p:nvCxnSpPr>
        <p:spPr>
          <a:xfrm>
            <a:off x="3268842" y="4604297"/>
            <a:ext cx="150495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2341D9E-860B-6F46-E0DA-9F572C1D64B7}"/>
                  </a:ext>
                </a:extLst>
              </p:cNvPr>
              <p:cNvSpPr txBox="1"/>
              <p:nvPr/>
            </p:nvSpPr>
            <p:spPr>
              <a:xfrm>
                <a:off x="2758356" y="3900182"/>
                <a:ext cx="46807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2341D9E-860B-6F46-E0DA-9F572C1D64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8356" y="3900182"/>
                <a:ext cx="468077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2E02514-9A61-E838-AE54-661022887ADE}"/>
                  </a:ext>
                </a:extLst>
              </p:cNvPr>
              <p:cNvSpPr txBox="1"/>
              <p:nvPr/>
            </p:nvSpPr>
            <p:spPr>
              <a:xfrm>
                <a:off x="2758355" y="4374255"/>
                <a:ext cx="47557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2E02514-9A61-E838-AE54-661022887A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8355" y="4374255"/>
                <a:ext cx="47557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4FBA255-20E6-F6AA-0C73-8BAEC7ADB958}"/>
                  </a:ext>
                </a:extLst>
              </p:cNvPr>
              <p:cNvSpPr txBox="1"/>
              <p:nvPr/>
            </p:nvSpPr>
            <p:spPr>
              <a:xfrm>
                <a:off x="2750854" y="4858452"/>
                <a:ext cx="47557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4FBA255-20E6-F6AA-0C73-8BAEC7ADB9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0854" y="4858452"/>
                <a:ext cx="475579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A5A7343-6B2C-9B77-8B2A-57A07D1B4017}"/>
                  </a:ext>
                </a:extLst>
              </p:cNvPr>
              <p:cNvSpPr txBox="1"/>
              <p:nvPr/>
            </p:nvSpPr>
            <p:spPr>
              <a:xfrm>
                <a:off x="8121288" y="4335232"/>
                <a:ext cx="47557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A5A7343-6B2C-9B77-8B2A-57A07D1B40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1288" y="4335232"/>
                <a:ext cx="475579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17A75226-4D24-50E7-4529-BB8CAA71C664}"/>
              </a:ext>
            </a:extLst>
          </p:cNvPr>
          <p:cNvSpPr txBox="1"/>
          <p:nvPr/>
        </p:nvSpPr>
        <p:spPr>
          <a:xfrm>
            <a:off x="8645506" y="4387319"/>
            <a:ext cx="16818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Output port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30F934-71D4-864A-E2F6-8243F49EF94A}"/>
              </a:ext>
            </a:extLst>
          </p:cNvPr>
          <p:cNvSpPr txBox="1"/>
          <p:nvPr/>
        </p:nvSpPr>
        <p:spPr>
          <a:xfrm>
            <a:off x="1036320" y="4435810"/>
            <a:ext cx="1572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Input ports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91793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8BE07-C2AC-5C81-2EDC-B0E0254C5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SystemVerilog</a:t>
            </a:r>
            <a:r>
              <a:rPr lang="en-US" dirty="0"/>
              <a:t>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653BA-A695-433E-9E77-354D19D91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4998720" cy="4329817"/>
          </a:xfrm>
        </p:spPr>
        <p:txBody>
          <a:bodyPr/>
          <a:lstStyle/>
          <a:p>
            <a:r>
              <a:rPr lang="en-US" dirty="0"/>
              <a:t>Each block is a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module</a:t>
            </a:r>
          </a:p>
          <a:p>
            <a:pPr lvl="1"/>
            <a:r>
              <a:rPr lang="en-US" sz="2000" dirty="0"/>
              <a:t>Has inputs and outputs</a:t>
            </a:r>
          </a:p>
          <a:p>
            <a:pPr lvl="1"/>
            <a:r>
              <a:rPr lang="en-US" sz="2000" dirty="0"/>
              <a:t>Logical mapping from inputs to outputs</a:t>
            </a:r>
          </a:p>
          <a:p>
            <a:endParaRPr lang="en-US" dirty="0"/>
          </a:p>
          <a:p>
            <a:r>
              <a:rPr lang="en-US" dirty="0"/>
              <a:t>Description is behavioral only</a:t>
            </a:r>
          </a:p>
          <a:p>
            <a:pPr lvl="1"/>
            <a:r>
              <a:rPr lang="en-US" sz="2000" dirty="0"/>
              <a:t>Does not say how it will be implemented</a:t>
            </a:r>
          </a:p>
          <a:p>
            <a:pPr lvl="1"/>
            <a:r>
              <a:rPr lang="en-US" sz="2000" dirty="0"/>
              <a:t>We discuss that later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9B4595-A4AA-901B-7B0B-A65349D8B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482BF0-FDB7-2E1E-B0BF-D180FA52E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9326" y="1614292"/>
            <a:ext cx="5810386" cy="3783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7921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5A406-C087-AB7C-47F9-FED634399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24301ED-9208-D7AA-D795-350EBF390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670" y="1846785"/>
            <a:ext cx="5459585" cy="355479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D6C2159-E556-D33C-8A01-715E0748E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Components in SV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81CA8-D911-EA40-0FF4-939AE9B180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4630" y="1846785"/>
            <a:ext cx="4998720" cy="3626289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Module name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Ports</a:t>
            </a:r>
            <a:r>
              <a:rPr lang="en-US" sz="2400" dirty="0"/>
              <a:t>:</a:t>
            </a:r>
          </a:p>
          <a:p>
            <a:pPr lvl="1"/>
            <a:r>
              <a:rPr lang="en-US" sz="2000" dirty="0"/>
              <a:t>Defines inputs and outputs</a:t>
            </a:r>
          </a:p>
          <a:p>
            <a:pPr lvl="1"/>
            <a:r>
              <a:rPr lang="en-US" sz="2000" dirty="0"/>
              <a:t>Each has a type (more detail later)</a:t>
            </a:r>
          </a:p>
          <a:p>
            <a:pPr lvl="1"/>
            <a:endParaRPr lang="en-US" sz="2000" dirty="0"/>
          </a:p>
          <a:p>
            <a:r>
              <a:rPr lang="en-US" sz="2400" dirty="0">
                <a:solidFill>
                  <a:schemeClr val="accent1"/>
                </a:solidFill>
              </a:rPr>
              <a:t>Behavioral description</a:t>
            </a:r>
          </a:p>
          <a:p>
            <a:pPr lvl="1"/>
            <a:r>
              <a:rPr lang="en-US" sz="2000" dirty="0"/>
              <a:t>In this case, a </a:t>
            </a:r>
            <a:r>
              <a:rPr lang="en-US" sz="2000" dirty="0">
                <a:solidFill>
                  <a:schemeClr val="accent1"/>
                </a:solidFill>
              </a:rPr>
              <a:t>combinational block</a:t>
            </a:r>
          </a:p>
          <a:p>
            <a:pPr lvl="1"/>
            <a:r>
              <a:rPr lang="en-US" sz="2000" dirty="0"/>
              <a:t>Sequence of operations </a:t>
            </a:r>
          </a:p>
          <a:p>
            <a:pPr lvl="1"/>
            <a:r>
              <a:rPr lang="en-US" sz="2000" dirty="0"/>
              <a:t>From input to output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F95E58-6885-B715-15DD-C341EFBA1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41</a:t>
            </a:fld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D368288-6B4D-8BAE-83B3-B324FD6066C3}"/>
              </a:ext>
            </a:extLst>
          </p:cNvPr>
          <p:cNvCxnSpPr>
            <a:cxnSpLocks/>
          </p:cNvCxnSpPr>
          <p:nvPr/>
        </p:nvCxnSpPr>
        <p:spPr>
          <a:xfrm flipH="1">
            <a:off x="4519613" y="2709863"/>
            <a:ext cx="1775096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F94FEB2-86CF-D95C-922C-7DB2B6F95159}"/>
              </a:ext>
            </a:extLst>
          </p:cNvPr>
          <p:cNvCxnSpPr>
            <a:cxnSpLocks/>
          </p:cNvCxnSpPr>
          <p:nvPr/>
        </p:nvCxnSpPr>
        <p:spPr>
          <a:xfrm flipH="1">
            <a:off x="5627371" y="4443413"/>
            <a:ext cx="781276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63C4718-A8C2-673E-C4C5-A5E50B89D2D9}"/>
              </a:ext>
            </a:extLst>
          </p:cNvPr>
          <p:cNvCxnSpPr>
            <a:cxnSpLocks/>
          </p:cNvCxnSpPr>
          <p:nvPr/>
        </p:nvCxnSpPr>
        <p:spPr>
          <a:xfrm flipH="1">
            <a:off x="3443288" y="2000552"/>
            <a:ext cx="3048447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4392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8D784-9A01-55DB-D193-0DE0BF6F0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B04E1-70CB-65A5-6FD8-98DF333F2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 of a module typically represented by a </a:t>
            </a:r>
            <a:r>
              <a:rPr lang="en-US" dirty="0">
                <a:solidFill>
                  <a:schemeClr val="accent1"/>
                </a:solidFill>
              </a:rPr>
              <a:t>block diagram</a:t>
            </a:r>
          </a:p>
          <a:p>
            <a:r>
              <a:rPr lang="en-US" dirty="0"/>
              <a:t>Graphical representation of a potential implementation</a:t>
            </a:r>
          </a:p>
          <a:p>
            <a:r>
              <a:rPr lang="en-US" dirty="0"/>
              <a:t>Typically, diagram is at high-level</a:t>
            </a:r>
          </a:p>
          <a:p>
            <a:pPr lvl="1"/>
            <a:r>
              <a:rPr lang="en-US" dirty="0"/>
              <a:t>Adders, multipliers not low-level details components like gates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B0CB96-3F47-24B5-9142-7743E60AF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2233B5-D650-2A86-938A-F2909D3DE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083" y="3166235"/>
            <a:ext cx="7724119" cy="2372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3860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0CD21-C689-80B5-BD21-7FAAE0CE4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670FF-8BB3-2721-D0E3-8E54B7B003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4558352"/>
            <a:ext cx="10058400" cy="1310742"/>
          </a:xfrm>
        </p:spPr>
        <p:txBody>
          <a:bodyPr/>
          <a:lstStyle/>
          <a:p>
            <a:r>
              <a:rPr lang="en-US" dirty="0"/>
              <a:t>Assigned as homework</a:t>
            </a:r>
          </a:p>
          <a:p>
            <a:r>
              <a:rPr lang="en-US" dirty="0"/>
              <a:t>Note there is a conservative and more precise bit width analysis</a:t>
            </a:r>
          </a:p>
          <a:p>
            <a:pPr lvl="1"/>
            <a:r>
              <a:rPr lang="en-US" dirty="0"/>
              <a:t>Both will receive full credit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17925C-17F8-D7D1-7542-0B24A1F53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7AC0BB-24F9-2B73-060E-B39AA7EF7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026" y="1488606"/>
            <a:ext cx="7754432" cy="260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93701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17184</TotalTime>
  <Words>1700</Words>
  <Application>Microsoft Office PowerPoint</Application>
  <PresentationFormat>Widescreen</PresentationFormat>
  <Paragraphs>327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7" baseType="lpstr">
      <vt:lpstr>Calibri</vt:lpstr>
      <vt:lpstr>Cambria Math</vt:lpstr>
      <vt:lpstr>Wingdings</vt:lpstr>
      <vt:lpstr>Retrospect</vt:lpstr>
      <vt:lpstr>Unit 1  Data Types and Combinational Logic</vt:lpstr>
      <vt:lpstr>Learning Objectives</vt:lpstr>
      <vt:lpstr>Outline</vt:lpstr>
      <vt:lpstr>Hardware Description Language</vt:lpstr>
      <vt:lpstr>System Verilog vs Verilog</vt:lpstr>
      <vt:lpstr>Logic and Logic Vectors</vt:lpstr>
      <vt:lpstr>Bitwise Operations</vt:lpstr>
      <vt:lpstr>Example Problem</vt:lpstr>
      <vt:lpstr>Solution</vt:lpstr>
      <vt:lpstr>Integers</vt:lpstr>
      <vt:lpstr>Two Complement</vt:lpstr>
      <vt:lpstr>Example Problem</vt:lpstr>
      <vt:lpstr>Two’s Complement = Modulo Arithmetic</vt:lpstr>
      <vt:lpstr>System Verilog Literals and Constants</vt:lpstr>
      <vt:lpstr>Example Problem</vt:lpstr>
      <vt:lpstr>Outline</vt:lpstr>
      <vt:lpstr>Truncation</vt:lpstr>
      <vt:lpstr>Sample Problem</vt:lpstr>
      <vt:lpstr>Solution using Binary Representations</vt:lpstr>
      <vt:lpstr>Solution using Modulo Arithmetic</vt:lpstr>
      <vt:lpstr>Simulating Truncation in Python</vt:lpstr>
      <vt:lpstr>Saturation</vt:lpstr>
      <vt:lpstr>Addition Overflow Rules</vt:lpstr>
      <vt:lpstr>Addition in System Verilog</vt:lpstr>
      <vt:lpstr>Sample Problem</vt:lpstr>
      <vt:lpstr>Multiplication Overflow </vt:lpstr>
      <vt:lpstr>Sample Problem</vt:lpstr>
      <vt:lpstr>Summary</vt:lpstr>
      <vt:lpstr>Outline</vt:lpstr>
      <vt:lpstr>Logical Bit Shift</vt:lpstr>
      <vt:lpstr>Logical Shift and Bit Widths</vt:lpstr>
      <vt:lpstr>Arithmetic Shift</vt:lpstr>
      <vt:lpstr>Python vs. SV</vt:lpstr>
      <vt:lpstr>Arithmetic Shift and Powers of Two</vt:lpstr>
      <vt:lpstr>Example Problem</vt:lpstr>
      <vt:lpstr>Solution</vt:lpstr>
      <vt:lpstr>Outline</vt:lpstr>
      <vt:lpstr>Module and Combinational Logic</vt:lpstr>
      <vt:lpstr>Simple Example:  ReLU + Linear</vt:lpstr>
      <vt:lpstr>SystemVerilog Description</vt:lpstr>
      <vt:lpstr>Module Components in SV</vt:lpstr>
      <vt:lpstr>Block Diagram</vt:lpstr>
      <vt:lpstr>Problem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Sundeep Rangan</dc:creator>
  <cp:lastModifiedBy>Sundeep Rangan</cp:lastModifiedBy>
  <cp:revision>670</cp:revision>
  <cp:lastPrinted>2018-09-04T19:00:14Z</cp:lastPrinted>
  <dcterms:created xsi:type="dcterms:W3CDTF">2015-03-22T11:15:32Z</dcterms:created>
  <dcterms:modified xsi:type="dcterms:W3CDTF">2026-02-02T14:29:51Z</dcterms:modified>
</cp:coreProperties>
</file>